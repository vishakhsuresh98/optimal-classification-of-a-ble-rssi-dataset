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35"/>
  </p:notesMasterIdLst>
  <p:sldIdLst>
    <p:sldId id="286" r:id="rId2"/>
    <p:sldId id="287" r:id="rId3"/>
    <p:sldId id="303" r:id="rId4"/>
    <p:sldId id="304" r:id="rId5"/>
    <p:sldId id="306" r:id="rId6"/>
    <p:sldId id="305" r:id="rId7"/>
    <p:sldId id="341" r:id="rId8"/>
    <p:sldId id="307" r:id="rId9"/>
    <p:sldId id="313" r:id="rId10"/>
    <p:sldId id="308" r:id="rId11"/>
    <p:sldId id="309" r:id="rId12"/>
    <p:sldId id="310" r:id="rId13"/>
    <p:sldId id="328" r:id="rId14"/>
    <p:sldId id="319" r:id="rId15"/>
    <p:sldId id="329" r:id="rId16"/>
    <p:sldId id="320" r:id="rId17"/>
    <p:sldId id="342" r:id="rId18"/>
    <p:sldId id="321" r:id="rId19"/>
    <p:sldId id="325" r:id="rId20"/>
    <p:sldId id="317" r:id="rId21"/>
    <p:sldId id="326" r:id="rId22"/>
    <p:sldId id="316" r:id="rId23"/>
    <p:sldId id="327" r:id="rId24"/>
    <p:sldId id="343" r:id="rId25"/>
    <p:sldId id="318" r:id="rId26"/>
    <p:sldId id="335" r:id="rId27"/>
    <p:sldId id="336" r:id="rId28"/>
    <p:sldId id="337" r:id="rId29"/>
    <p:sldId id="338" r:id="rId30"/>
    <p:sldId id="339" r:id="rId31"/>
    <p:sldId id="340" r:id="rId32"/>
    <p:sldId id="282" r:id="rId33"/>
    <p:sldId id="34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4355"/>
    <a:srgbClr val="FB3849"/>
    <a:srgbClr val="0014FF"/>
    <a:srgbClr val="00E87F"/>
    <a:srgbClr val="FFF80D"/>
    <a:srgbClr val="FF9A00"/>
    <a:srgbClr val="E80C6C"/>
    <a:srgbClr val="F7AA2A"/>
    <a:srgbClr val="FFFFFF"/>
    <a:srgbClr val="C3F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004" autoAdjust="0"/>
  </p:normalViewPr>
  <p:slideViewPr>
    <p:cSldViewPr snapToGrid="0">
      <p:cViewPr varScale="1">
        <p:scale>
          <a:sx n="76" d="100"/>
          <a:sy n="76" d="100"/>
        </p:scale>
        <p:origin x="414" y="8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3B99C-CB63-4A92-9E6D-BFEBE4A6DE4B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B6811-5364-4D3C-A3D8-0CBD2ACD9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35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85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68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43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78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5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82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42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14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7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91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B6811-5364-4D3C-A3D8-0CBD2ACD9C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4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5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3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5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1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97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9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0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29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99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0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47543-3071-495A-8512-FA0F67599223}" type="datetimeFigureOut">
              <a:rPr lang="en-US" smtClean="0"/>
              <a:t>12/02/2018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AB182-CCB1-439F-9894-157E51B57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27747" y="2372781"/>
            <a:ext cx="8336507" cy="184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OPTI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M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AL CLASSI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F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ICATION O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F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 </a:t>
            </a:r>
            <a:b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</a:b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B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L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E RS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S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I DATA</a:t>
            </a:r>
            <a:r>
              <a:rPr lang="en-US" altLang="ja-JP" sz="4000" spc="3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S</a:t>
            </a:r>
            <a:r>
              <a:rPr lang="en-US" altLang="ja-JP" sz="4000" spc="300" dirty="0">
                <a:latin typeface="Gill Sans" pitchFamily="50" charset="0"/>
                <a:cs typeface="Segoe UI" panose="020B0502040204020203" pitchFamily="34" charset="0"/>
              </a:rPr>
              <a:t>ET</a:t>
            </a:r>
            <a:endParaRPr lang="en-US" sz="4000" spc="3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58327" y="4902090"/>
            <a:ext cx="847534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smtClean="0">
                <a:latin typeface="Gill Sans" pitchFamily="50" charset="0"/>
                <a:cs typeface="Segoe UI" panose="020B0502040204020203" pitchFamily="34" charset="0"/>
              </a:rPr>
              <a:t>VISHAKH.S</a:t>
            </a:r>
          </a:p>
          <a:p>
            <a:pPr algn="ctr">
              <a:lnSpc>
                <a:spcPct val="150000"/>
              </a:lnSpc>
            </a:pPr>
            <a:r>
              <a:rPr lang="en-US" spc="300" dirty="0" smtClean="0">
                <a:latin typeface="Gill Sans" pitchFamily="50" charset="0"/>
                <a:cs typeface="Segoe UI" panose="020B0502040204020203" pitchFamily="34" charset="0"/>
              </a:rPr>
              <a:t>(</a:t>
            </a:r>
            <a:r>
              <a:rPr lang="en-US" i="1" spc="300" dirty="0" smtClean="0">
                <a:latin typeface="Gill Sans" pitchFamily="50" charset="0"/>
                <a:cs typeface="Segoe UI" panose="020B0502040204020203" pitchFamily="34" charset="0"/>
              </a:rPr>
              <a:t>Under the guidance of </a:t>
            </a:r>
          </a:p>
          <a:p>
            <a:pPr algn="ctr">
              <a:lnSpc>
                <a:spcPct val="150000"/>
              </a:lnSpc>
            </a:pPr>
            <a:r>
              <a:rPr lang="en-US" spc="300" dirty="0" smtClean="0">
                <a:latin typeface="Gill Sans" pitchFamily="50" charset="0"/>
                <a:cs typeface="Segoe UI" panose="020B0502040204020203" pitchFamily="34" charset="0"/>
              </a:rPr>
              <a:t>DR. VENKATA RAMANA BADARLA)</a:t>
            </a:r>
            <a:endParaRPr lang="en-US" spc="300" dirty="0">
              <a:latin typeface="Gill Sans" pitchFamily="50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5913120" y="1335718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5913120" y="1556376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5913120" y="1110074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9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 Same Side Corner Rectangle 74"/>
          <p:cNvSpPr/>
          <p:nvPr/>
        </p:nvSpPr>
        <p:spPr>
          <a:xfrm>
            <a:off x="6914324" y="2845119"/>
            <a:ext cx="765786" cy="6859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76" name="Round Same Side Corner Rectangle 75"/>
          <p:cNvSpPr/>
          <p:nvPr/>
        </p:nvSpPr>
        <p:spPr>
          <a:xfrm>
            <a:off x="6914320" y="4902930"/>
            <a:ext cx="765787" cy="685937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77" name="Rectangle 76"/>
          <p:cNvSpPr/>
          <p:nvPr/>
        </p:nvSpPr>
        <p:spPr>
          <a:xfrm>
            <a:off x="6914322" y="3531056"/>
            <a:ext cx="765787" cy="685937"/>
          </a:xfrm>
          <a:prstGeom prst="rect">
            <a:avLst/>
          </a:prstGeom>
          <a:solidFill>
            <a:srgbClr val="FF0D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14321" y="4216993"/>
            <a:ext cx="765789" cy="685937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3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842885" y="1371320"/>
            <a:ext cx="290866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spc="300" dirty="0" smtClean="0">
                <a:latin typeface="Gill Sans" pitchFamily="50" charset="0"/>
                <a:cs typeface="Segoe UI" panose="020B0502040204020203" pitchFamily="34" charset="0"/>
              </a:rPr>
              <a:t>CONT</a:t>
            </a:r>
            <a:r>
              <a:rPr lang="en-US" altLang="ja-JP" sz="3600" spc="3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</a:t>
            </a:r>
            <a:r>
              <a:rPr lang="en-US" altLang="ja-JP" sz="3600" spc="300" dirty="0" smtClean="0">
                <a:latin typeface="Gill Sans" pitchFamily="50" charset="0"/>
                <a:cs typeface="Segoe UI" panose="020B0502040204020203" pitchFamily="34" charset="0"/>
              </a:rPr>
              <a:t>NTS</a:t>
            </a:r>
            <a:endParaRPr lang="en-US" sz="3600" spc="300" dirty="0">
              <a:latin typeface="Gill Sans" pitchFamily="50" charset="0"/>
              <a:cs typeface="Segoe UI" panose="020B0502040204020203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477125" y="961214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477125" y="1181872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477125" y="735570"/>
            <a:ext cx="365760" cy="54864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06773" y="2993014"/>
            <a:ext cx="2531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INTRO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D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UCTION</a:t>
            </a:r>
            <a:endParaRPr lang="en-US" sz="24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80856" y="3651069"/>
            <a:ext cx="1445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MET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R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ICS</a:t>
            </a:r>
            <a:endParaRPr lang="en-US" sz="24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78942" y="4331894"/>
            <a:ext cx="179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APPRO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A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CH</a:t>
            </a:r>
            <a:endParaRPr lang="en-US" sz="24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80856" y="4982760"/>
            <a:ext cx="1445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RESU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L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TS</a:t>
            </a:r>
            <a:endParaRPr lang="en-US" sz="2400" dirty="0">
              <a:latin typeface="Gill Sans" pitchFamily="50" charset="0"/>
              <a:cs typeface="Segoe UI" panose="020B0502040204020203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10243920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9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0 L 0.86407 -0.00486 " pathEditMode="relative" rAng="0" ptsTypes="AA">
                                      <p:cBhvr>
                                        <p:cTn id="64" dur="1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203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5" grpId="0"/>
      <p:bldP spid="19" grpId="0"/>
      <p:bldP spid="25" grpId="0"/>
      <p:bldP spid="28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タイトル 3"/>
          <p:cNvSpPr txBox="1">
            <a:spLocks/>
          </p:cNvSpPr>
          <p:nvPr/>
        </p:nvSpPr>
        <p:spPr>
          <a:xfrm>
            <a:off x="956623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MOTI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V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ATION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82093" y="1555900"/>
            <a:ext cx="782321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2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R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eliable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estimation </a:t>
            </a:r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of occupancy in an 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area – beneficial !</a:t>
            </a:r>
          </a:p>
          <a:p>
            <a:pPr marL="1273576" lvl="1" indent="-457200">
              <a:spcAft>
                <a:spcPts val="12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Optimized energy consumption 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in </a:t>
            </a:r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smart buildings</a:t>
            </a:r>
          </a:p>
          <a:p>
            <a:pPr marL="1273576" lvl="1" indent="-457200">
              <a:spcAft>
                <a:spcPts val="12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Customized experiences</a:t>
            </a:r>
          </a:p>
          <a:p>
            <a:pPr marL="1273576" lvl="1" indent="-457200">
              <a:spcAft>
                <a:spcPts val="12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Targeted marketing</a:t>
            </a:r>
          </a:p>
          <a:p>
            <a:pPr marL="1273576" lvl="1" indent="-457200">
              <a:spcAft>
                <a:spcPts val="12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Emergency management </a:t>
            </a:r>
            <a:endParaRPr lang="en-US" sz="2400" dirty="0" smtClean="0">
              <a:solidFill>
                <a:srgbClr val="C00000"/>
              </a:solidFill>
              <a:latin typeface="Gill Sans" pitchFamily="50" charset="0"/>
              <a:cs typeface="Segoe UI" panose="020B0502040204020203" pitchFamily="34" charset="0"/>
            </a:endParaRPr>
          </a:p>
          <a:p>
            <a:pPr lvl="1">
              <a:spcAft>
                <a:spcPts val="1200"/>
              </a:spcAft>
              <a:buClr>
                <a:schemeClr val="accent1"/>
              </a:buClr>
            </a:pPr>
            <a:endParaRPr lang="en-US" sz="2400" dirty="0" smtClean="0">
              <a:latin typeface="Gill Sans" pitchFamily="50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spcAft>
                <a:spcPts val="1200"/>
              </a:spcAft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A promising technology  – </a:t>
            </a:r>
            <a:r>
              <a:rPr lang="en-US" sz="2800" b="1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Bluetooth Low Energy  !</a:t>
            </a:r>
            <a:r>
              <a:rPr lang="en-US" sz="2800" dirty="0" smtClean="0">
                <a:solidFill>
                  <a:schemeClr val="accent1"/>
                </a:solidFill>
                <a:latin typeface="Gill Sans" pitchFamily="50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232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67767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タイトル 3"/>
          <p:cNvSpPr txBox="1">
            <a:spLocks/>
          </p:cNvSpPr>
          <p:nvPr/>
        </p:nvSpPr>
        <p:spPr>
          <a:xfrm>
            <a:off x="956623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INTRO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D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UCTION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2506016" y="2258876"/>
            <a:ext cx="1828800" cy="3651808"/>
            <a:chOff x="2626529" y="2983260"/>
            <a:chExt cx="2743200" cy="5477712"/>
          </a:xfrm>
        </p:grpSpPr>
        <p:sp>
          <p:nvSpPr>
            <p:cNvPr id="20" name="Oval 19"/>
            <p:cNvSpPr/>
            <p:nvPr/>
          </p:nvSpPr>
          <p:spPr>
            <a:xfrm>
              <a:off x="2855129" y="3794317"/>
              <a:ext cx="2286000" cy="2286000"/>
            </a:xfrm>
            <a:prstGeom prst="ellipse">
              <a:avLst/>
            </a:prstGeom>
            <a:noFill/>
            <a:ln w="76200">
              <a:solidFill>
                <a:schemeClr val="accent1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" name="Oval 20"/>
            <p:cNvSpPr/>
            <p:nvPr/>
          </p:nvSpPr>
          <p:spPr>
            <a:xfrm>
              <a:off x="3942817" y="6697474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4034257" y="3166140"/>
              <a:ext cx="0" cy="579006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034133" y="6112258"/>
              <a:ext cx="0" cy="579006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3939324" y="2983260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4034359" y="6880354"/>
              <a:ext cx="0" cy="54864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" descr="Related imag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72" t="40644" r="68863" b="28288"/>
            <a:stretch/>
          </p:blipFill>
          <p:spPr bwMode="auto">
            <a:xfrm rot="5400000">
              <a:off x="3155541" y="4215982"/>
              <a:ext cx="1158240" cy="146304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schemeClr val="tx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Related imag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70" t="19201" r="68105" b="59635"/>
            <a:stretch/>
          </p:blipFill>
          <p:spPr bwMode="auto">
            <a:xfrm rot="5400000">
              <a:off x="4271570" y="4608545"/>
              <a:ext cx="853617" cy="91546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schemeClr val="tx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ounded Rectangle 27"/>
            <p:cNvSpPr/>
            <p:nvPr/>
          </p:nvSpPr>
          <p:spPr>
            <a:xfrm>
              <a:off x="2626529" y="7363692"/>
              <a:ext cx="2743200" cy="109728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BLE Beacons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343415" y="2215622"/>
            <a:ext cx="1828800" cy="3688746"/>
            <a:chOff x="12861296" y="2983260"/>
            <a:chExt cx="2743200" cy="5533120"/>
          </a:xfrm>
        </p:grpSpPr>
        <p:sp>
          <p:nvSpPr>
            <p:cNvPr id="30" name="Oval 29"/>
            <p:cNvSpPr/>
            <p:nvPr/>
          </p:nvSpPr>
          <p:spPr>
            <a:xfrm>
              <a:off x="13095076" y="3794317"/>
              <a:ext cx="2286000" cy="2286000"/>
            </a:xfrm>
            <a:prstGeom prst="ellipse">
              <a:avLst/>
            </a:prstGeom>
            <a:noFill/>
            <a:ln w="76200">
              <a:solidFill>
                <a:srgbClr val="00B050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Oval 30"/>
            <p:cNvSpPr/>
            <p:nvPr/>
          </p:nvSpPr>
          <p:spPr>
            <a:xfrm>
              <a:off x="14141454" y="6697474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4203942" y="3166140"/>
              <a:ext cx="0" cy="585216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4237952" y="6112258"/>
              <a:ext cx="0" cy="585216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14075060" y="2983260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14255774" y="6902058"/>
              <a:ext cx="0" cy="54864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ounded Rectangle 51"/>
            <p:cNvSpPr/>
            <p:nvPr/>
          </p:nvSpPr>
          <p:spPr>
            <a:xfrm>
              <a:off x="12861296" y="7419100"/>
              <a:ext cx="2743200" cy="1097280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Server</a:t>
              </a:r>
            </a:p>
          </p:txBody>
        </p:sp>
        <p:pic>
          <p:nvPicPr>
            <p:cNvPr id="53" name="Picture 6" descr="Image result for server image 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83960" y="4210747"/>
              <a:ext cx="936732" cy="1447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/>
          <p:cNvGrpSpPr/>
          <p:nvPr/>
        </p:nvGrpSpPr>
        <p:grpSpPr>
          <a:xfrm>
            <a:off x="5422041" y="2213357"/>
            <a:ext cx="1828800" cy="3691012"/>
            <a:chOff x="7752608" y="3005564"/>
            <a:chExt cx="2743200" cy="5536518"/>
          </a:xfrm>
        </p:grpSpPr>
        <p:sp>
          <p:nvSpPr>
            <p:cNvPr id="55" name="Oval 54"/>
            <p:cNvSpPr/>
            <p:nvPr/>
          </p:nvSpPr>
          <p:spPr>
            <a:xfrm>
              <a:off x="8000206" y="3800219"/>
              <a:ext cx="2286000" cy="2286000"/>
            </a:xfrm>
            <a:prstGeom prst="ellipse">
              <a:avLst/>
            </a:prstGeom>
            <a:noFill/>
            <a:ln w="76200">
              <a:solidFill>
                <a:srgbClr val="F7AA2A"/>
              </a:solidFill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6" name="Oval 55"/>
            <p:cNvSpPr/>
            <p:nvPr/>
          </p:nvSpPr>
          <p:spPr>
            <a:xfrm>
              <a:off x="9032334" y="6697474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7" name="Straight Connector 56"/>
            <p:cNvCxnSpPr/>
            <p:nvPr/>
          </p:nvCxnSpPr>
          <p:spPr>
            <a:xfrm>
              <a:off x="9123775" y="3209489"/>
              <a:ext cx="0" cy="54864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9132232" y="6112258"/>
              <a:ext cx="0" cy="585216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9051766" y="3005564"/>
              <a:ext cx="182880" cy="182880"/>
            </a:xfrm>
            <a:prstGeom prst="ellipse">
              <a:avLst/>
            </a:prstGeom>
            <a:noFill/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60" name="Straight Connector 59"/>
            <p:cNvCxnSpPr/>
            <p:nvPr/>
          </p:nvCxnSpPr>
          <p:spPr>
            <a:xfrm>
              <a:off x="9132232" y="6902058"/>
              <a:ext cx="0" cy="548640"/>
            </a:xfrm>
            <a:prstGeom prst="line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/>
            <p:cNvSpPr/>
            <p:nvPr/>
          </p:nvSpPr>
          <p:spPr>
            <a:xfrm>
              <a:off x="7752608" y="7444802"/>
              <a:ext cx="2743200" cy="1097280"/>
            </a:xfrm>
            <a:prstGeom prst="roundRect">
              <a:avLst/>
            </a:prstGeom>
            <a:solidFill>
              <a:srgbClr val="F7A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Smartphone</a:t>
              </a:r>
            </a:p>
          </p:txBody>
        </p:sp>
        <p:pic>
          <p:nvPicPr>
            <p:cNvPr id="62" name="Picture 2" descr="Related image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36" t="23301" r="42350" b="19741"/>
            <a:stretch/>
          </p:blipFill>
          <p:spPr bwMode="auto">
            <a:xfrm>
              <a:off x="8753800" y="4238176"/>
              <a:ext cx="756863" cy="1387583"/>
            </a:xfrm>
            <a:prstGeom prst="rect">
              <a:avLst/>
            </a:prstGeom>
            <a:noFill/>
            <a:effectLst>
              <a:outerShdw blurRad="63500" sx="102000" sy="102000" algn="ctr" rotWithShape="0">
                <a:schemeClr val="tx1">
                  <a:alpha val="40000"/>
                </a:schemeClr>
              </a:outerShdw>
            </a:effectLst>
            <a:scene3d>
              <a:camera prst="orthographicFront"/>
              <a:lightRig rig="threePt" dir="t"/>
            </a:scene3d>
            <a:sp3d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3" name="Straight Connector 62"/>
          <p:cNvCxnSpPr>
            <a:endCxn id="59" idx="2"/>
          </p:cNvCxnSpPr>
          <p:nvPr/>
        </p:nvCxnSpPr>
        <p:spPr>
          <a:xfrm flipV="1">
            <a:off x="3503133" y="2274317"/>
            <a:ext cx="2785013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6411841" y="2268962"/>
            <a:ext cx="2743200" cy="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851925" y="1365174"/>
            <a:ext cx="5092345" cy="62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The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3</a:t>
            </a:r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 major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components</a:t>
            </a:r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 of a system</a:t>
            </a:r>
          </a:p>
        </p:txBody>
      </p:sp>
    </p:spTree>
    <p:extLst>
      <p:ext uri="{BB962C8B-B14F-4D97-AF65-F5344CB8AC3E}">
        <p14:creationId xmlns:p14="http://schemas.microsoft.com/office/powerpoint/2010/main" val="35414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タイトル 3"/>
          <p:cNvSpPr txBox="1">
            <a:spLocks/>
          </p:cNvSpPr>
          <p:nvPr/>
        </p:nvSpPr>
        <p:spPr>
          <a:xfrm>
            <a:off x="956623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INTRO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D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UCTION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64520" y="3497107"/>
            <a:ext cx="2064229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411682" y="3497107"/>
            <a:ext cx="237744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52551" y="3171279"/>
            <a:ext cx="141236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Broadcast Packet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7068" y="2897005"/>
            <a:ext cx="2208245" cy="598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1333" b="1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RSSI</a:t>
            </a:r>
            <a:r>
              <a:rPr lang="en-US" sz="1333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 Information</a:t>
            </a:r>
          </a:p>
        </p:txBody>
      </p:sp>
      <p:pic>
        <p:nvPicPr>
          <p:cNvPr id="23" name="Picture 2" descr="Relat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2" t="40644" r="68863" b="28288"/>
          <a:stretch/>
        </p:blipFill>
        <p:spPr bwMode="auto">
          <a:xfrm rot="5400000">
            <a:off x="2917025" y="2926767"/>
            <a:ext cx="772160" cy="975360"/>
          </a:xfrm>
          <a:prstGeom prst="rect">
            <a:avLst/>
          </a:prstGeom>
          <a:noFill/>
          <a:effectLst>
            <a:outerShdw blurRad="63500" sx="102000" sy="102000" algn="ctr" rotWithShape="0">
              <a:schemeClr val="tx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Relat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0" t="19201" r="68105" b="59635"/>
          <a:stretch/>
        </p:blipFill>
        <p:spPr bwMode="auto">
          <a:xfrm rot="5400000">
            <a:off x="3661045" y="3188475"/>
            <a:ext cx="569078" cy="610311"/>
          </a:xfrm>
          <a:prstGeom prst="rect">
            <a:avLst/>
          </a:prstGeom>
          <a:noFill/>
          <a:effectLst>
            <a:outerShdw blurRad="63500" sx="102000" sy="102000" algn="ctr" rotWithShape="0">
              <a:schemeClr val="tx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Related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36" t="23301" r="42350" b="19741"/>
          <a:stretch/>
        </p:blipFill>
        <p:spPr bwMode="auto">
          <a:xfrm>
            <a:off x="6649199" y="2941563"/>
            <a:ext cx="504575" cy="925055"/>
          </a:xfrm>
          <a:prstGeom prst="rect">
            <a:avLst/>
          </a:prstGeom>
          <a:noFill/>
          <a:effectLst>
            <a:outerShdw blurRad="63500" sx="102000" sy="102000" algn="ctr" rotWithShape="0">
              <a:schemeClr val="tx1"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mage result for server image 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638" y="2923277"/>
            <a:ext cx="624488" cy="96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3851925" y="1365174"/>
            <a:ext cx="5092345" cy="62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The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3</a:t>
            </a:r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 major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components</a:t>
            </a:r>
            <a:r>
              <a:rPr lang="en-US" sz="24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 of a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91474" y="1936966"/>
            <a:ext cx="2284679" cy="5251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Emergency</a:t>
            </a:r>
            <a:r>
              <a:rPr lang="en-US" sz="2000" dirty="0">
                <a:solidFill>
                  <a:schemeClr val="tx1"/>
                </a:solidFill>
                <a:latin typeface="Gill Sans" pitchFamily="50" charset="0"/>
                <a:cs typeface="Segoe UI" panose="020B0502040204020203" pitchFamily="34" charset="0"/>
              </a:rPr>
              <a:t> system)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1297" y="4958983"/>
            <a:ext cx="95603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Gill Sans" pitchFamily="50" charset="0"/>
                <a:cs typeface="Segoe UI" panose="020B0502040204020203" pitchFamily="34" charset="0"/>
              </a:rPr>
              <a:t>The mobile phone does not process the received beacon packets to calculate the location information.   </a:t>
            </a:r>
            <a:r>
              <a:rPr lang="en-US" sz="2400" dirty="0"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==&gt;  </a:t>
            </a:r>
            <a:r>
              <a:rPr lang="en-US" sz="24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Better response to crisis </a:t>
            </a:r>
            <a:endParaRPr lang="en-US" sz="2400" dirty="0">
              <a:solidFill>
                <a:srgbClr val="C00000"/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57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タイトル 3"/>
          <p:cNvSpPr txBox="1">
            <a:spLocks/>
          </p:cNvSpPr>
          <p:nvPr/>
        </p:nvSpPr>
        <p:spPr>
          <a:xfrm>
            <a:off x="956623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INTRO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D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UCTION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51365" y="3236238"/>
            <a:ext cx="502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Low-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powered, 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wireless</a:t>
            </a:r>
            <a:endParaRPr lang="en-US" sz="2400" dirty="0">
              <a:solidFill>
                <a:srgbClr val="C00000"/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51366" y="4000907"/>
            <a:ext cx="699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1 device – can receive signals from 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multiple 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beacons</a:t>
            </a:r>
            <a:endParaRPr lang="en-US" sz="24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94660" y="2476900"/>
            <a:ext cx="28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65000"/>
                  </a:schemeClr>
                </a:solidFill>
                <a:latin typeface="Gill Sans" pitchFamily="50" charset="0"/>
                <a:cs typeface="Segoe UI" panose="020B0502040204020203" pitchFamily="34" charset="0"/>
              </a:rPr>
              <a:t>1</a:t>
            </a:r>
            <a:endParaRPr lang="en-US" sz="2400" b="1" dirty="0">
              <a:solidFill>
                <a:schemeClr val="tx1">
                  <a:lumMod val="65000"/>
                </a:schemeClr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94659" y="3236238"/>
            <a:ext cx="28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65000"/>
                  </a:schemeClr>
                </a:solidFill>
                <a:latin typeface="Gill Sans" pitchFamily="50" charset="0"/>
                <a:cs typeface="Segoe UI" panose="020B0502040204020203" pitchFamily="34" charset="0"/>
              </a:rPr>
              <a:t>2</a:t>
            </a:r>
            <a:endParaRPr lang="en-US" sz="2400" b="1" dirty="0">
              <a:solidFill>
                <a:schemeClr val="tx1">
                  <a:lumMod val="65000"/>
                </a:schemeClr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93522" y="4000907"/>
            <a:ext cx="28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65000"/>
                  </a:schemeClr>
                </a:solidFill>
                <a:latin typeface="Gill Sans" pitchFamily="50" charset="0"/>
                <a:cs typeface="Segoe UI" panose="020B0502040204020203" pitchFamily="34" charset="0"/>
              </a:rPr>
              <a:t>3</a:t>
            </a:r>
            <a:endParaRPr lang="en-US" sz="2400" b="1" dirty="0">
              <a:solidFill>
                <a:schemeClr val="tx1">
                  <a:lumMod val="65000"/>
                </a:schemeClr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51365" y="2476901"/>
            <a:ext cx="6449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Beacons – </a:t>
            </a:r>
            <a:r>
              <a:rPr lang="en-US" sz="2400" dirty="0" smtClean="0">
                <a:latin typeface="Gill Sans" pitchFamily="50" charset="0"/>
                <a:cs typeface="Segoe UI" panose="020B0502040204020203" pitchFamily="34" charset="0"/>
              </a:rPr>
              <a:t>Portable, easily available, easy to deploy</a:t>
            </a:r>
            <a:endParaRPr lang="en-US" sz="2400" dirty="0">
              <a:solidFill>
                <a:schemeClr val="accent1"/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3709480" y="2426545"/>
            <a:ext cx="0" cy="584775"/>
          </a:xfrm>
          <a:prstGeom prst="line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709480" y="3163171"/>
            <a:ext cx="0" cy="584775"/>
          </a:xfrm>
          <a:prstGeom prst="line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709480" y="3906825"/>
            <a:ext cx="0" cy="584775"/>
          </a:xfrm>
          <a:prstGeom prst="line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07048" y="3264860"/>
            <a:ext cx="1136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PROS : </a:t>
            </a:r>
            <a:endParaRPr lang="en-US" sz="2400" dirty="0">
              <a:solidFill>
                <a:srgbClr val="C00000"/>
              </a:solidFill>
              <a:latin typeface="Gill Sans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02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タイトル 3"/>
          <p:cNvSpPr txBox="1">
            <a:spLocks/>
          </p:cNvSpPr>
          <p:nvPr/>
        </p:nvSpPr>
        <p:spPr>
          <a:xfrm>
            <a:off x="956623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CHAL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L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ENGES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41835" y="2408218"/>
            <a:ext cx="5921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ill Sans" pitchFamily="50" charset="0"/>
              </a:rPr>
              <a:t>Obstructions in BLE signal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ill Sans" pitchFamily="50" charset="0"/>
              </a:rPr>
              <a:t>Ideal beacon density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Gill Sans" pitchFamily="50" charset="0"/>
              </a:rPr>
              <a:t>Trade-off between frequency and energy</a:t>
            </a:r>
            <a:endParaRPr lang="en-US" sz="24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82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105776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21483" y="2359476"/>
            <a:ext cx="829283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3600" dirty="0" smtClean="0"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Combining</a:t>
            </a:r>
            <a:r>
              <a:rPr lang="en-US" sz="3600" dirty="0" smtClean="0">
                <a:solidFill>
                  <a:schemeClr val="accent1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3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Bluetooth low energy </a:t>
            </a:r>
          </a:p>
          <a:p>
            <a:pPr algn="ctr">
              <a:spcAft>
                <a:spcPts val="1800"/>
              </a:spcAft>
              <a:buClr>
                <a:schemeClr val="accent1"/>
              </a:buClr>
            </a:pPr>
            <a:r>
              <a:rPr lang="en-US" sz="3600" dirty="0" smtClean="0"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and</a:t>
            </a:r>
            <a:r>
              <a:rPr lang="en-US" sz="3600" dirty="0" smtClean="0">
                <a:solidFill>
                  <a:schemeClr val="accent1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3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Machine Learning</a:t>
            </a:r>
          </a:p>
          <a:p>
            <a:pPr algn="ctr">
              <a:spcAft>
                <a:spcPts val="1200"/>
              </a:spcAft>
              <a:buClr>
                <a:schemeClr val="accent1"/>
              </a:buClr>
            </a:pPr>
            <a:r>
              <a:rPr lang="en-US" sz="3600" dirty="0" smtClean="0"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-</a:t>
            </a:r>
            <a:r>
              <a:rPr lang="en-US" sz="3600" dirty="0" smtClean="0">
                <a:solidFill>
                  <a:schemeClr val="accent1"/>
                </a:solidFill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sz="3600" dirty="0" smtClean="0">
                <a:latin typeface="Gill Sans" pitchFamily="50" charset="0"/>
                <a:cs typeface="Segoe UI" panose="020B0502040204020203" pitchFamily="34" charset="0"/>
                <a:sym typeface="Wingdings" panose="05000000000000000000" pitchFamily="2" charset="2"/>
              </a:rPr>
              <a:t>A promising basis for occupancy detection</a:t>
            </a:r>
            <a:endParaRPr lang="en-US" sz="3600" dirty="0" smtClean="0">
              <a:latin typeface="Gill Sans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88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0 L 0.86185 -0.0027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86" y="-13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タイトル 3"/>
          <p:cNvSpPr txBox="1">
            <a:spLocks/>
          </p:cNvSpPr>
          <p:nvPr/>
        </p:nvSpPr>
        <p:spPr>
          <a:xfrm>
            <a:off x="622799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2 MET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R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ICS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2" name="Parallelogram 1"/>
          <p:cNvSpPr/>
          <p:nvPr/>
        </p:nvSpPr>
        <p:spPr>
          <a:xfrm>
            <a:off x="2728708" y="2114550"/>
            <a:ext cx="3291840" cy="3200400"/>
          </a:xfrm>
          <a:prstGeom prst="parallelogram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76200" dist="76200" dir="18900000" sy="23000" kx="-1200000" algn="bl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" pitchFamily="50" charset="0"/>
              </a:rPr>
              <a:t>ACCURACY</a:t>
            </a:r>
            <a:endParaRPr lang="en-US" sz="2400" b="1" dirty="0">
              <a:latin typeface="Gill Sans" pitchFamily="50" charset="0"/>
            </a:endParaRPr>
          </a:p>
        </p:txBody>
      </p:sp>
      <p:sp>
        <p:nvSpPr>
          <p:cNvPr id="27" name="Parallelogram 26"/>
          <p:cNvSpPr/>
          <p:nvPr/>
        </p:nvSpPr>
        <p:spPr>
          <a:xfrm>
            <a:off x="6191507" y="2114550"/>
            <a:ext cx="3291840" cy="3200400"/>
          </a:xfrm>
          <a:prstGeom prst="parallelogram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76200" dist="76200" dir="18900000" sy="23000" kx="-1200000" algn="bl" rotWithShape="0">
              <a:srgbClr val="00B05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" pitchFamily="50" charset="0"/>
              </a:rPr>
              <a:t>CONFUSION MATRIX</a:t>
            </a:r>
            <a:endParaRPr lang="en-US" sz="2400" b="1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89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タイトル 3"/>
          <p:cNvSpPr txBox="1">
            <a:spLocks/>
          </p:cNvSpPr>
          <p:nvPr/>
        </p:nvSpPr>
        <p:spPr>
          <a:xfrm>
            <a:off x="622799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ACCU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R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ACY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51382" y="1812086"/>
            <a:ext cx="6161273" cy="1049580"/>
            <a:chOff x="3361714" y="1900073"/>
            <a:chExt cx="6161273" cy="1049580"/>
          </a:xfrm>
        </p:grpSpPr>
        <p:sp>
          <p:nvSpPr>
            <p:cNvPr id="21" name="TextBox 20"/>
            <p:cNvSpPr txBox="1"/>
            <p:nvPr/>
          </p:nvSpPr>
          <p:spPr>
            <a:xfrm>
              <a:off x="3361714" y="2201726"/>
              <a:ext cx="2075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dirty="0" smtClean="0">
                  <a:latin typeface="Gill Sans" pitchFamily="50" charset="0"/>
                </a:rPr>
                <a:t>Accuracy</a:t>
              </a:r>
              <a:r>
                <a:rPr lang="en-US" sz="2400" i="1" dirty="0" smtClean="0">
                  <a:latin typeface="Gill Sans" pitchFamily="50" charset="0"/>
                </a:rPr>
                <a:t>   =   </a:t>
              </a:r>
              <a:endParaRPr lang="en-US" sz="2400" i="1" dirty="0">
                <a:latin typeface="Gill Sans" pitchFamily="50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413217" y="1900073"/>
              <a:ext cx="41097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Gill Sans" pitchFamily="50" charset="0"/>
                </a:rPr>
                <a:t>Number of correct </a:t>
              </a:r>
              <a:r>
                <a:rPr lang="en-US" sz="2400" dirty="0" smtClean="0">
                  <a:latin typeface="Gill Sans" pitchFamily="50" charset="0"/>
                </a:rPr>
                <a:t>predictions</a:t>
              </a:r>
              <a:endParaRPr lang="en-US" sz="2400" dirty="0">
                <a:latin typeface="Gill Sans" pitchFamily="50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609160" y="2487988"/>
              <a:ext cx="363805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 smtClean="0">
                  <a:latin typeface="Gill Sans" pitchFamily="50" charset="0"/>
                </a:rPr>
                <a:t>Total </a:t>
              </a:r>
              <a:r>
                <a:rPr lang="en-US" sz="2400" dirty="0">
                  <a:latin typeface="Gill Sans" pitchFamily="50" charset="0"/>
                </a:rPr>
                <a:t>number of predictions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5364687" y="2428363"/>
              <a:ext cx="4114800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219824" y="4139325"/>
            <a:ext cx="7257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Gill Sans" pitchFamily="50" charset="0"/>
              </a:rPr>
              <a:t>A major disadvantage of accuracy !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Gill Sans" pitchFamily="50" charset="0"/>
              </a:rPr>
              <a:t>- </a:t>
            </a:r>
            <a:r>
              <a:rPr lang="en-US" sz="2400" dirty="0" smtClean="0">
                <a:latin typeface="Gill Sans" pitchFamily="50" charset="0"/>
              </a:rPr>
              <a:t>Relationship between classes 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</a:rPr>
              <a:t>NOT</a:t>
            </a:r>
            <a:r>
              <a:rPr lang="en-US" sz="2400" dirty="0" smtClean="0">
                <a:latin typeface="Gill Sans" pitchFamily="50" charset="0"/>
              </a:rPr>
              <a:t> indicated</a:t>
            </a:r>
            <a:endParaRPr lang="en-US" sz="2000" dirty="0">
              <a:latin typeface="Gill Sans" pitchFamily="50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510087" y="3870363"/>
            <a:ext cx="1645920" cy="1645920"/>
            <a:chOff x="9221909" y="3587112"/>
            <a:chExt cx="1645920" cy="1645920"/>
          </a:xfrm>
        </p:grpSpPr>
        <p:sp>
          <p:nvSpPr>
            <p:cNvPr id="9" name="Oval 8"/>
            <p:cNvSpPr/>
            <p:nvPr/>
          </p:nvSpPr>
          <p:spPr>
            <a:xfrm>
              <a:off x="9279944" y="3655692"/>
              <a:ext cx="1508760" cy="1508760"/>
            </a:xfrm>
            <a:prstGeom prst="ellipse">
              <a:avLst/>
            </a:prstGeom>
            <a:noFill/>
            <a:ln w="19050">
              <a:solidFill>
                <a:srgbClr val="FB43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9539410" y="4148462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latin typeface="Bookman Old Style" panose="02050604050505020204" pitchFamily="18" charset="0"/>
                </a:rPr>
                <a:t>75%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9221909" y="3587112"/>
              <a:ext cx="1645920" cy="1645920"/>
            </a:xfrm>
            <a:custGeom>
              <a:avLst/>
              <a:gdLst>
                <a:gd name="connsiteX0" fmla="*/ 822960 w 1645920"/>
                <a:gd name="connsiteY0" fmla="*/ 0 h 1645920"/>
                <a:gd name="connsiteX1" fmla="*/ 822960 w 1645920"/>
                <a:gd name="connsiteY1" fmla="*/ 68580 h 1645920"/>
                <a:gd name="connsiteX2" fmla="*/ 68580 w 1645920"/>
                <a:gd name="connsiteY2" fmla="*/ 822960 h 1645920"/>
                <a:gd name="connsiteX3" fmla="*/ 822960 w 1645920"/>
                <a:gd name="connsiteY3" fmla="*/ 1577340 h 1645920"/>
                <a:gd name="connsiteX4" fmla="*/ 1577340 w 1645920"/>
                <a:gd name="connsiteY4" fmla="*/ 822960 h 1645920"/>
                <a:gd name="connsiteX5" fmla="*/ 1645920 w 1645920"/>
                <a:gd name="connsiteY5" fmla="*/ 822960 h 1645920"/>
                <a:gd name="connsiteX6" fmla="*/ 822960 w 1645920"/>
                <a:gd name="connsiteY6" fmla="*/ 1645920 h 1645920"/>
                <a:gd name="connsiteX7" fmla="*/ 0 w 1645920"/>
                <a:gd name="connsiteY7" fmla="*/ 822960 h 1645920"/>
                <a:gd name="connsiteX8" fmla="*/ 822960 w 1645920"/>
                <a:gd name="connsiteY8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5920" h="1645920">
                  <a:moveTo>
                    <a:pt x="822960" y="0"/>
                  </a:moveTo>
                  <a:lnTo>
                    <a:pt x="822960" y="68580"/>
                  </a:lnTo>
                  <a:cubicBezTo>
                    <a:pt x="406327" y="68580"/>
                    <a:pt x="68580" y="406327"/>
                    <a:pt x="68580" y="822960"/>
                  </a:cubicBezTo>
                  <a:cubicBezTo>
                    <a:pt x="68580" y="1239593"/>
                    <a:pt x="406327" y="1577340"/>
                    <a:pt x="822960" y="1577340"/>
                  </a:cubicBezTo>
                  <a:cubicBezTo>
                    <a:pt x="1239593" y="1577340"/>
                    <a:pt x="1577340" y="1239593"/>
                    <a:pt x="1577340" y="822960"/>
                  </a:cubicBezTo>
                  <a:lnTo>
                    <a:pt x="1645920" y="822960"/>
                  </a:lnTo>
                  <a:cubicBezTo>
                    <a:pt x="1645920" y="1277468"/>
                    <a:pt x="1277468" y="1645920"/>
                    <a:pt x="822960" y="1645920"/>
                  </a:cubicBezTo>
                  <a:cubicBezTo>
                    <a:pt x="368452" y="1645920"/>
                    <a:pt x="0" y="1277468"/>
                    <a:pt x="0" y="822960"/>
                  </a:cubicBezTo>
                  <a:cubicBezTo>
                    <a:pt x="0" y="368452"/>
                    <a:pt x="368452" y="0"/>
                    <a:pt x="822960" y="0"/>
                  </a:cubicBezTo>
                  <a:close/>
                </a:path>
              </a:pathLst>
            </a:custGeom>
            <a:gradFill>
              <a:gsLst>
                <a:gs pos="72000">
                  <a:srgbClr val="FF9A00"/>
                </a:gs>
                <a:gs pos="37000">
                  <a:srgbClr val="FB4355"/>
                </a:gs>
                <a:gs pos="2000">
                  <a:srgbClr val="E80C6C"/>
                </a:gs>
                <a:gs pos="100000">
                  <a:srgbClr val="FFF80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21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668614" y="2793596"/>
            <a:ext cx="2686105" cy="2352290"/>
            <a:chOff x="3389936" y="2983217"/>
            <a:chExt cx="4029157" cy="3528435"/>
          </a:xfrm>
        </p:grpSpPr>
        <p:grpSp>
          <p:nvGrpSpPr>
            <p:cNvPr id="20" name="Group 19"/>
            <p:cNvGrpSpPr/>
            <p:nvPr/>
          </p:nvGrpSpPr>
          <p:grpSpPr>
            <a:xfrm>
              <a:off x="4030638" y="3343300"/>
              <a:ext cx="3384376" cy="3168352"/>
              <a:chOff x="6388566" y="3991372"/>
              <a:chExt cx="3258696" cy="2880360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6388566" y="3991372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388566" y="4567436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6388566" y="5143500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6388566" y="5719564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6388566" y="6295628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6388566" y="6871692"/>
                <a:ext cx="32461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6406902" y="4017620"/>
                <a:ext cx="0" cy="283464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7054974" y="3991372"/>
                <a:ext cx="0" cy="28803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V="1">
                <a:off x="7703046" y="3991372"/>
                <a:ext cx="0" cy="28803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 flipV="1">
                <a:off x="8351118" y="3991372"/>
                <a:ext cx="0" cy="28803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V="1">
                <a:off x="8999190" y="3991372"/>
                <a:ext cx="0" cy="28803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 flipV="1">
                <a:off x="9647262" y="3991372"/>
                <a:ext cx="0" cy="288036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 20"/>
            <p:cNvSpPr/>
            <p:nvPr/>
          </p:nvSpPr>
          <p:spPr>
            <a:xfrm>
              <a:off x="4049681" y="2983260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723914" y="2983217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379761" y="2983260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A3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069596" y="2983217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746026" y="2984770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A5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389939" y="3566555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A1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389938" y="4157425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A2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89937" y="4819234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89936" y="5459749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A4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389936" y="6052354"/>
              <a:ext cx="673067" cy="216024"/>
            </a:xfrm>
            <a:prstGeom prst="rect">
              <a:avLst/>
            </a:prstGeom>
            <a:noFill/>
            <a:ln w="984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A5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172142" y="2730462"/>
            <a:ext cx="58556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ill Sans" pitchFamily="50" charset="0"/>
                <a:cs typeface="Segoe UI" panose="020B0502040204020203" pitchFamily="34" charset="0"/>
              </a:rPr>
              <a:t>R</a:t>
            </a:r>
            <a:r>
              <a:rPr lang="en-US" sz="2000" b="1" dirty="0" smtClean="0">
                <a:latin typeface="Gill Sans" pitchFamily="50" charset="0"/>
                <a:cs typeface="Segoe UI" panose="020B0502040204020203" pitchFamily="34" charset="0"/>
              </a:rPr>
              <a:t>ow</a:t>
            </a:r>
            <a:r>
              <a:rPr lang="en-US" sz="2000" dirty="0" smtClean="0">
                <a:latin typeface="Gill Sans" pitchFamily="50" charset="0"/>
                <a:cs typeface="Segoe UI" panose="020B0502040204020203" pitchFamily="34" charset="0"/>
              </a:rPr>
              <a:t> : instances </a:t>
            </a:r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in actual class</a:t>
            </a:r>
          </a:p>
          <a:p>
            <a:pPr marL="304815" indent="-304815">
              <a:buFont typeface="Arial" panose="020B0604020202020204" pitchFamily="34" charset="0"/>
              <a:buChar char="•"/>
            </a:pPr>
            <a:endParaRPr lang="en-US" sz="2000" dirty="0">
              <a:latin typeface="Gill Sans" pitchFamily="50" charset="0"/>
              <a:cs typeface="Segoe UI" panose="020B0502040204020203" pitchFamily="34" charset="0"/>
            </a:endParaRPr>
          </a:p>
          <a:p>
            <a:r>
              <a:rPr lang="en-US" sz="2000" b="1" dirty="0" smtClean="0">
                <a:latin typeface="Gill Sans" pitchFamily="50" charset="0"/>
                <a:cs typeface="Segoe UI" panose="020B0502040204020203" pitchFamily="34" charset="0"/>
              </a:rPr>
              <a:t>Column</a:t>
            </a:r>
            <a:r>
              <a:rPr lang="en-US" sz="2000" dirty="0" smtClean="0">
                <a:latin typeface="Gill Sans" pitchFamily="50" charset="0"/>
                <a:cs typeface="Segoe UI" panose="020B0502040204020203" pitchFamily="34" charset="0"/>
              </a:rPr>
              <a:t> : instances </a:t>
            </a:r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in predicted class</a:t>
            </a:r>
          </a:p>
          <a:p>
            <a:endParaRPr lang="en-US" sz="2000" dirty="0">
              <a:latin typeface="Gill Sans" pitchFamily="50" charset="0"/>
              <a:cs typeface="Segoe UI" panose="020B0502040204020203" pitchFamily="34" charset="0"/>
            </a:endParaRPr>
          </a:p>
          <a:p>
            <a:r>
              <a:rPr lang="en-US" sz="2000" b="1" dirty="0" smtClean="0">
                <a:latin typeface="Gill Sans" pitchFamily="50" charset="0"/>
                <a:cs typeface="Segoe UI" panose="020B0502040204020203" pitchFamily="34" charset="0"/>
              </a:rPr>
              <a:t>Diagonal</a:t>
            </a:r>
            <a:r>
              <a:rPr lang="en-US" sz="2000" dirty="0" smtClean="0">
                <a:latin typeface="Gill Sans" pitchFamily="50" charset="0"/>
                <a:cs typeface="Segoe UI" panose="020B0502040204020203" pitchFamily="34" charset="0"/>
              </a:rPr>
              <a:t> </a:t>
            </a:r>
            <a:r>
              <a:rPr lang="en-US" sz="2000" b="1" dirty="0">
                <a:latin typeface="Gill Sans" pitchFamily="50" charset="0"/>
                <a:cs typeface="Segoe UI" panose="020B0502040204020203" pitchFamily="34" charset="0"/>
              </a:rPr>
              <a:t>elements</a:t>
            </a:r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 </a:t>
            </a:r>
            <a:r>
              <a:rPr lang="en-US" sz="2000" dirty="0" smtClean="0">
                <a:latin typeface="Gill Sans" pitchFamily="50" charset="0"/>
                <a:cs typeface="Segoe UI" panose="020B0502040204020203" pitchFamily="34" charset="0"/>
              </a:rPr>
              <a:t>: instances </a:t>
            </a:r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for which </a:t>
            </a:r>
            <a:endParaRPr lang="en-US" sz="2000" dirty="0" smtClean="0">
              <a:latin typeface="Gill Sans" pitchFamily="50" charset="0"/>
              <a:cs typeface="Segoe UI" panose="020B0502040204020203" pitchFamily="34" charset="0"/>
            </a:endParaRPr>
          </a:p>
          <a:p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	</a:t>
            </a:r>
            <a:r>
              <a:rPr lang="en-US" sz="2000" dirty="0" smtClean="0">
                <a:latin typeface="Gill Sans" pitchFamily="50" charset="0"/>
                <a:cs typeface="Segoe UI" panose="020B0502040204020203" pitchFamily="34" charset="0"/>
              </a:rPr>
              <a:t>                    true </a:t>
            </a:r>
            <a:r>
              <a:rPr lang="en-US" sz="2000" dirty="0">
                <a:latin typeface="Gill Sans" pitchFamily="50" charset="0"/>
                <a:cs typeface="Segoe UI" panose="020B0502040204020203" pitchFamily="34" charset="0"/>
              </a:rPr>
              <a:t>label = predicted label</a:t>
            </a:r>
          </a:p>
          <a:p>
            <a:endParaRPr lang="en-US" sz="2000" dirty="0">
              <a:latin typeface="Gill Sans" pitchFamily="50" charset="0"/>
              <a:cs typeface="Segoe UI" panose="020B0502040204020203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For 3 out of the 20 samples, the predicted class was A2 when the actual class was A4.</a:t>
            </a:r>
          </a:p>
        </p:txBody>
      </p:sp>
      <p:sp>
        <p:nvSpPr>
          <p:cNvPr id="2" name="Rectangle 1"/>
          <p:cNvSpPr/>
          <p:nvPr/>
        </p:nvSpPr>
        <p:spPr>
          <a:xfrm>
            <a:off x="1717282" y="3033651"/>
            <a:ext cx="359834" cy="2112206"/>
          </a:xfrm>
          <a:prstGeom prst="rect">
            <a:avLst/>
          </a:prstGeom>
          <a:solidFill>
            <a:srgbClr val="00B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rot="16200000">
            <a:off x="3073009" y="1746818"/>
            <a:ext cx="329184" cy="2194560"/>
          </a:xfrm>
          <a:prstGeom prst="rect">
            <a:avLst/>
          </a:prstGeom>
          <a:solidFill>
            <a:srgbClr val="00B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122088" y="3045773"/>
            <a:ext cx="2225394" cy="2085598"/>
            <a:chOff x="2122088" y="3045773"/>
            <a:chExt cx="2225394" cy="2085598"/>
          </a:xfrm>
        </p:grpSpPr>
        <p:sp>
          <p:nvSpPr>
            <p:cNvPr id="3" name="Rectangle 2"/>
            <p:cNvSpPr/>
            <p:nvPr/>
          </p:nvSpPr>
          <p:spPr>
            <a:xfrm>
              <a:off x="2122088" y="3045773"/>
              <a:ext cx="420624" cy="403193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581501" y="3463303"/>
              <a:ext cx="420624" cy="403193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026807" y="3888250"/>
              <a:ext cx="420624" cy="403193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478147" y="4310256"/>
              <a:ext cx="420624" cy="403193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926858" y="4728178"/>
              <a:ext cx="420624" cy="403193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2573829" y="4310256"/>
            <a:ext cx="420624" cy="4031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solidFill>
                  <a:srgbClr val="C00000"/>
                </a:solidFill>
                <a:latin typeface="Gill Sans" pitchFamily="50" charset="0"/>
              </a:rPr>
              <a:t>0.15</a:t>
            </a:r>
            <a:endParaRPr lang="en-US" sz="1000" b="1" dirty="0">
              <a:solidFill>
                <a:srgbClr val="C00000"/>
              </a:solidFill>
              <a:latin typeface="Gill Sans" pitchFamily="50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905965" y="4632877"/>
            <a:ext cx="2182229" cy="65986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タイトル 3"/>
          <p:cNvSpPr txBox="1">
            <a:spLocks/>
          </p:cNvSpPr>
          <p:nvPr/>
        </p:nvSpPr>
        <p:spPr>
          <a:xfrm>
            <a:off x="622799" y="474417"/>
            <a:ext cx="10882951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CON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F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USION MA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T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RIX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69459" y="1654961"/>
            <a:ext cx="5365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Gill Sans" pitchFamily="50" charset="0"/>
              </a:rPr>
              <a:t>An </a:t>
            </a:r>
            <a:r>
              <a:rPr lang="en-US" sz="2000" dirty="0" err="1" smtClean="0">
                <a:latin typeface="Gill Sans" pitchFamily="50" charset="0"/>
              </a:rPr>
              <a:t>NxN</a:t>
            </a:r>
            <a:r>
              <a:rPr lang="en-US" sz="2000" dirty="0" smtClean="0">
                <a:latin typeface="Gill Sans" pitchFamily="50" charset="0"/>
              </a:rPr>
              <a:t> matrix (N = # classes)</a:t>
            </a:r>
            <a:endParaRPr lang="en-US" sz="20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8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1" grpId="0" animBg="1"/>
      <p:bldP spid="61" grpId="1" animBg="1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rgbClr val="FF0D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1090832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597011" y="2039003"/>
            <a:ext cx="5916034" cy="1990161"/>
            <a:chOff x="2597011" y="2039003"/>
            <a:chExt cx="5916034" cy="1990161"/>
          </a:xfrm>
        </p:grpSpPr>
        <p:sp>
          <p:nvSpPr>
            <p:cNvPr id="2" name="TextBox 1"/>
            <p:cNvSpPr txBox="1"/>
            <p:nvPr/>
          </p:nvSpPr>
          <p:spPr>
            <a:xfrm>
              <a:off x="3198095" y="2828835"/>
              <a:ext cx="531495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2400" dirty="0" smtClean="0">
                  <a:solidFill>
                    <a:srgbClr val="C00000"/>
                  </a:solidFill>
                  <a:latin typeface="Gill Sans" pitchFamily="50" charset="0"/>
                </a:rPr>
                <a:t>Relationship</a:t>
              </a:r>
              <a:r>
                <a:rPr lang="en-US" sz="2400" dirty="0" smtClean="0">
                  <a:latin typeface="Gill Sans" pitchFamily="50" charset="0"/>
                </a:rPr>
                <a:t> between the classes</a:t>
              </a:r>
            </a:p>
            <a:p>
              <a:pPr marL="285750" indent="-285750">
                <a:buFontTx/>
                <a:buChar char="-"/>
              </a:pPr>
              <a:endParaRPr lang="en-US" sz="2400" dirty="0" smtClean="0">
                <a:latin typeface="Gill Sans" pitchFamily="50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sz="2400" dirty="0" smtClean="0">
                  <a:latin typeface="Gill Sans" pitchFamily="50" charset="0"/>
                </a:rPr>
                <a:t>Better visualization of </a:t>
              </a:r>
              <a:r>
                <a:rPr lang="en-US" sz="2400" dirty="0" smtClean="0">
                  <a:solidFill>
                    <a:srgbClr val="C00000"/>
                  </a:solidFill>
                  <a:latin typeface="Gill Sans" pitchFamily="50" charset="0"/>
                </a:rPr>
                <a:t>misclassification</a:t>
              </a:r>
              <a:endParaRPr lang="en-US" sz="2400" dirty="0">
                <a:solidFill>
                  <a:srgbClr val="C00000"/>
                </a:solidFill>
                <a:latin typeface="Gill Sans" pitchFamily="50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597011" y="2039003"/>
              <a:ext cx="551465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latin typeface="Gill Sans" pitchFamily="50" charset="0"/>
                </a:rPr>
                <a:t>Confusion matrix – </a:t>
              </a:r>
              <a:r>
                <a:rPr lang="en-US" sz="2800" i="1" dirty="0">
                  <a:solidFill>
                    <a:srgbClr val="C00000"/>
                  </a:solidFill>
                  <a:latin typeface="Gill Sans" pitchFamily="50" charset="0"/>
                </a:rPr>
                <a:t>a better metric </a:t>
              </a:r>
              <a:r>
                <a:rPr lang="en-US" sz="2800" dirty="0">
                  <a:latin typeface="Gill Sans" pitchFamily="50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80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 L 0.85924 -0.0083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56" y="-417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5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DA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T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ASET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361" y="1273164"/>
            <a:ext cx="6400800" cy="4480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" name="Straight Connector 3"/>
          <p:cNvCxnSpPr/>
          <p:nvPr/>
        </p:nvCxnSpPr>
        <p:spPr>
          <a:xfrm>
            <a:off x="276431" y="5994400"/>
            <a:ext cx="108126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75738" y="6137353"/>
            <a:ext cx="105895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Gill Sans" pitchFamily="50" charset="0"/>
              </a:rPr>
              <a:t>M. </a:t>
            </a:r>
            <a:r>
              <a:rPr lang="en-US" sz="1400" dirty="0" err="1">
                <a:latin typeface="Gill Sans" pitchFamily="50" charset="0"/>
              </a:rPr>
              <a:t>Mohammadi</a:t>
            </a:r>
            <a:r>
              <a:rPr lang="en-US" sz="1400" dirty="0">
                <a:latin typeface="Gill Sans" pitchFamily="50" charset="0"/>
              </a:rPr>
              <a:t> et al. “Semi-supervised Deep Reinforcement Learning in </a:t>
            </a:r>
            <a:r>
              <a:rPr lang="en-US" sz="1400" dirty="0" smtClean="0">
                <a:latin typeface="Gill Sans" pitchFamily="50" charset="0"/>
              </a:rPr>
              <a:t>Support of </a:t>
            </a:r>
            <a:r>
              <a:rPr lang="en-US" sz="1400" dirty="0" err="1">
                <a:latin typeface="Gill Sans" pitchFamily="50" charset="0"/>
              </a:rPr>
              <a:t>IoT</a:t>
            </a:r>
            <a:r>
              <a:rPr lang="en-US" sz="1400" dirty="0">
                <a:latin typeface="Gill Sans" pitchFamily="50" charset="0"/>
              </a:rPr>
              <a:t> and Smart City Services”. In: IEEE Internet of Things Journal (2017), pp. 1–12</a:t>
            </a:r>
            <a:r>
              <a:rPr lang="en-US" sz="1400" dirty="0" smtClean="0">
                <a:latin typeface="Gill Sans" pitchFamily="50" charset="0"/>
              </a:rPr>
              <a:t>.</a:t>
            </a:r>
            <a:r>
              <a:rPr lang="en-US" sz="1400" dirty="0">
                <a:latin typeface="Gill Sans" pitchFamily="50" charset="0"/>
              </a:rPr>
              <a:t> ISSN: 2327-4662. DOI: 10.1109/JIOT.2017.2712560 </a:t>
            </a:r>
          </a:p>
        </p:txBody>
      </p:sp>
    </p:spTree>
    <p:extLst>
      <p:ext uri="{BB962C8B-B14F-4D97-AF65-F5344CB8AC3E}">
        <p14:creationId xmlns:p14="http://schemas.microsoft.com/office/powerpoint/2010/main" val="425137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416321" y="4664011"/>
            <a:ext cx="5115478" cy="1463040"/>
            <a:chOff x="1959428" y="4185035"/>
            <a:chExt cx="5115478" cy="1463040"/>
          </a:xfr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19" name="Pentagon 18"/>
            <p:cNvSpPr/>
            <p:nvPr/>
          </p:nvSpPr>
          <p:spPr>
            <a:xfrm>
              <a:off x="3911008" y="4486025"/>
              <a:ext cx="3163898" cy="822960"/>
            </a:xfrm>
            <a:prstGeom prst="homePlate">
              <a:avLst/>
            </a:prstGeom>
            <a:solidFill>
              <a:srgbClr val="8FBF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Decision Tree Classifier</a:t>
              </a:r>
              <a:endParaRPr lang="en-US" b="1" dirty="0"/>
            </a:p>
          </p:txBody>
        </p:sp>
        <p:sp>
          <p:nvSpPr>
            <p:cNvPr id="20" name="Trapezoid 19"/>
            <p:cNvSpPr/>
            <p:nvPr/>
          </p:nvSpPr>
          <p:spPr>
            <a:xfrm rot="5400000">
              <a:off x="2603416" y="4340483"/>
              <a:ext cx="1463040" cy="1152144"/>
            </a:xfrm>
            <a:prstGeom prst="trapezoid">
              <a:avLst>
                <a:gd name="adj" fmla="val 29178"/>
              </a:avLst>
            </a:prstGeom>
            <a:solidFill>
              <a:srgbClr val="6C98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rapezoid 20"/>
            <p:cNvSpPr/>
            <p:nvPr/>
          </p:nvSpPr>
          <p:spPr>
            <a:xfrm rot="16200000">
              <a:off x="1628330" y="4516133"/>
              <a:ext cx="1463040" cy="800843"/>
            </a:xfrm>
            <a:prstGeom prst="trapezoid">
              <a:avLst>
                <a:gd name="adj" fmla="val 38240"/>
              </a:avLst>
            </a:prstGeom>
            <a:solidFill>
              <a:srgbClr val="8FBF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067158" y="3958292"/>
            <a:ext cx="5813804" cy="1207877"/>
            <a:chOff x="1623704" y="3479316"/>
            <a:chExt cx="5813804" cy="1207877"/>
          </a:xfr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23" name="Pentagon 22"/>
            <p:cNvSpPr/>
            <p:nvPr/>
          </p:nvSpPr>
          <p:spPr>
            <a:xfrm>
              <a:off x="4273610" y="3663065"/>
              <a:ext cx="3163898" cy="822960"/>
            </a:xfrm>
            <a:prstGeom prst="homePlate">
              <a:avLst/>
            </a:prstGeom>
            <a:solidFill>
              <a:srgbClr val="40A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Logistic regression</a:t>
              </a:r>
              <a:endParaRPr lang="en-US" b="1" dirty="0"/>
            </a:p>
          </p:txBody>
        </p:sp>
        <p:sp>
          <p:nvSpPr>
            <p:cNvPr id="24" name="Trapezoid 23"/>
            <p:cNvSpPr/>
            <p:nvPr/>
          </p:nvSpPr>
          <p:spPr>
            <a:xfrm rot="5400000">
              <a:off x="2989043" y="3397889"/>
              <a:ext cx="1207008" cy="1371600"/>
            </a:xfrm>
            <a:prstGeom prst="trapezoid">
              <a:avLst>
                <a:gd name="adj" fmla="val 16078"/>
              </a:avLst>
            </a:prstGeom>
            <a:solidFill>
              <a:srgbClr val="187F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rapezoid 24"/>
            <p:cNvSpPr/>
            <p:nvPr/>
          </p:nvSpPr>
          <p:spPr>
            <a:xfrm rot="16200000">
              <a:off x="1660280" y="3442740"/>
              <a:ext cx="1207008" cy="1280160"/>
            </a:xfrm>
            <a:prstGeom prst="trapezoid">
              <a:avLst>
                <a:gd name="adj" fmla="val 14875"/>
              </a:avLst>
            </a:prstGeom>
            <a:solidFill>
              <a:srgbClr val="3EA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517592" y="1466447"/>
            <a:ext cx="4912937" cy="1249804"/>
            <a:chOff x="2161969" y="987471"/>
            <a:chExt cx="4912937" cy="1249804"/>
          </a:xfr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27" name="Pentagon 26"/>
            <p:cNvSpPr/>
            <p:nvPr/>
          </p:nvSpPr>
          <p:spPr>
            <a:xfrm>
              <a:off x="3911008" y="1195312"/>
              <a:ext cx="3163898" cy="822960"/>
            </a:xfrm>
            <a:prstGeom prst="homePlate">
              <a:avLst/>
            </a:prstGeom>
            <a:solidFill>
              <a:srgbClr val="F439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2">
                      <a:lumMod val="20000"/>
                      <a:lumOff val="80000"/>
                    </a:schemeClr>
                  </a:solidFill>
                  <a:latin typeface="Gill Sans" pitchFamily="50" charset="0"/>
                </a:rPr>
                <a:t>Naive Bayes</a:t>
              </a:r>
              <a:endParaRPr 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Gill Sans" pitchFamily="50" charset="0"/>
              </a:endParaRPr>
            </a:p>
          </p:txBody>
        </p:sp>
        <p:sp>
          <p:nvSpPr>
            <p:cNvPr id="28" name="Trapezoid 27"/>
            <p:cNvSpPr/>
            <p:nvPr/>
          </p:nvSpPr>
          <p:spPr>
            <a:xfrm rot="5400000">
              <a:off x="3024420" y="1341163"/>
              <a:ext cx="1243584" cy="548640"/>
            </a:xfrm>
            <a:prstGeom prst="trapezoid">
              <a:avLst>
                <a:gd name="adj" fmla="val 37701"/>
              </a:avLst>
            </a:prstGeom>
            <a:solidFill>
              <a:srgbClr val="D60A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rapezoid 28"/>
            <p:cNvSpPr/>
            <p:nvPr/>
          </p:nvSpPr>
          <p:spPr>
            <a:xfrm rot="16200000">
              <a:off x="2146305" y="1003135"/>
              <a:ext cx="1243584" cy="1212255"/>
            </a:xfrm>
            <a:prstGeom prst="trapezoid">
              <a:avLst>
                <a:gd name="adj" fmla="val 21948"/>
              </a:avLst>
            </a:prstGeom>
            <a:solidFill>
              <a:srgbClr val="FB3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067158" y="2306793"/>
            <a:ext cx="5813804" cy="1243584"/>
            <a:chOff x="1623704" y="1827817"/>
            <a:chExt cx="5813804" cy="1243584"/>
          </a:xfr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1" name="Pentagon 30"/>
            <p:cNvSpPr/>
            <p:nvPr/>
          </p:nvSpPr>
          <p:spPr>
            <a:xfrm>
              <a:off x="4273610" y="2019079"/>
              <a:ext cx="3163898" cy="822960"/>
            </a:xfrm>
            <a:prstGeom prst="homePlate">
              <a:avLst/>
            </a:prstGeom>
            <a:solidFill>
              <a:srgbClr val="F7A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Support Vector Machine </a:t>
              </a:r>
              <a:endParaRPr lang="en-US" b="1" dirty="0"/>
            </a:p>
          </p:txBody>
        </p:sp>
        <p:sp>
          <p:nvSpPr>
            <p:cNvPr id="32" name="Trapezoid 31"/>
            <p:cNvSpPr/>
            <p:nvPr/>
          </p:nvSpPr>
          <p:spPr>
            <a:xfrm rot="16200000">
              <a:off x="1781975" y="1669546"/>
              <a:ext cx="1243584" cy="1560125"/>
            </a:xfrm>
            <a:prstGeom prst="trapezoid">
              <a:avLst>
                <a:gd name="adj" fmla="val 16867"/>
              </a:avLst>
            </a:prstGeom>
            <a:solidFill>
              <a:srgbClr val="F7A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rapezoid 48"/>
            <p:cNvSpPr/>
            <p:nvPr/>
          </p:nvSpPr>
          <p:spPr>
            <a:xfrm rot="5400000">
              <a:off x="3108177" y="1900969"/>
              <a:ext cx="1243584" cy="1097280"/>
            </a:xfrm>
            <a:prstGeom prst="trapezoid">
              <a:avLst>
                <a:gd name="adj" fmla="val 16867"/>
              </a:avLst>
            </a:prstGeom>
            <a:solidFill>
              <a:srgbClr val="D085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822925" y="3255073"/>
            <a:ext cx="6302270" cy="950976"/>
            <a:chOff x="1291771" y="2776097"/>
            <a:chExt cx="6302270" cy="950976"/>
          </a:xfrm>
          <a:effectLst>
            <a:outerShdw blurRad="50800" dist="635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51" name="Pentagon 50"/>
            <p:cNvSpPr/>
            <p:nvPr/>
          </p:nvSpPr>
          <p:spPr>
            <a:xfrm>
              <a:off x="4430143" y="2842039"/>
              <a:ext cx="3163898" cy="822960"/>
            </a:xfrm>
            <a:prstGeom prst="homePlate">
              <a:avLst/>
            </a:prstGeom>
            <a:solidFill>
              <a:srgbClr val="5A6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K-Nearest Neighbors</a:t>
              </a:r>
              <a:endParaRPr lang="en-US" b="1" dirty="0"/>
            </a:p>
          </p:txBody>
        </p:sp>
        <p:sp>
          <p:nvSpPr>
            <p:cNvPr id="52" name="Trapezoid 51"/>
            <p:cNvSpPr/>
            <p:nvPr/>
          </p:nvSpPr>
          <p:spPr>
            <a:xfrm rot="16200000">
              <a:off x="1698282" y="2369586"/>
              <a:ext cx="950976" cy="1763997"/>
            </a:xfrm>
            <a:prstGeom prst="trapezoid">
              <a:avLst>
                <a:gd name="adj" fmla="val 6824"/>
              </a:avLst>
            </a:prstGeom>
            <a:solidFill>
              <a:srgbClr val="5A6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rapezoid 52"/>
            <p:cNvSpPr/>
            <p:nvPr/>
          </p:nvSpPr>
          <p:spPr>
            <a:xfrm rot="5400000">
              <a:off x="3268855" y="2565785"/>
              <a:ext cx="950976" cy="1371600"/>
            </a:xfrm>
            <a:prstGeom prst="trapezoid">
              <a:avLst>
                <a:gd name="adj" fmla="val 6824"/>
              </a:avLst>
            </a:prstGeom>
            <a:solidFill>
              <a:srgbClr val="434F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288654" y="508000"/>
            <a:ext cx="1079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5</a:t>
            </a:r>
            <a:r>
              <a:rPr lang="en-US" sz="3200" spc="300" dirty="0" smtClean="0">
                <a:latin typeface="Gill Sans" pitchFamily="50" charset="0"/>
              </a:rPr>
              <a:t> CLAS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S</a:t>
            </a:r>
            <a:r>
              <a:rPr lang="en-US" sz="3200" spc="300" dirty="0" smtClean="0">
                <a:latin typeface="Gill Sans" pitchFamily="50" charset="0"/>
              </a:rPr>
              <a:t>IFIERS</a:t>
            </a:r>
            <a:endParaRPr lang="en-US" sz="3200" spc="3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19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BA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S</a:t>
            </a:r>
            <a:r>
              <a:rPr lang="en-US" sz="3200" spc="300" dirty="0" smtClean="0">
                <a:latin typeface="Gill Sans" pitchFamily="50" charset="0"/>
              </a:rPr>
              <a:t>IS O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F</a:t>
            </a:r>
            <a:r>
              <a:rPr lang="en-US" sz="3200" spc="300" dirty="0" smtClean="0">
                <a:latin typeface="Gill Sans" pitchFamily="50" charset="0"/>
              </a:rPr>
              <a:t> CLASSI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F</a:t>
            </a:r>
            <a:r>
              <a:rPr lang="en-US" sz="3200" spc="300" dirty="0" smtClean="0">
                <a:latin typeface="Gill Sans" pitchFamily="50" charset="0"/>
              </a:rPr>
              <a:t>ICATION</a:t>
            </a:r>
            <a:endParaRPr lang="en-US" sz="3200" spc="300" dirty="0">
              <a:latin typeface="Gill Sans" pitchFamily="50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2" t="11456" r="9741" b="6067"/>
          <a:stretch/>
        </p:blipFill>
        <p:spPr>
          <a:xfrm>
            <a:off x="6128690" y="2964092"/>
            <a:ext cx="4156206" cy="301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" t="11941" r="9799" b="6203"/>
          <a:stretch/>
        </p:blipFill>
        <p:spPr>
          <a:xfrm>
            <a:off x="1559976" y="1617134"/>
            <a:ext cx="4187814" cy="301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1944913" y="1666440"/>
            <a:ext cx="1088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Gill Sans" pitchFamily="50" charset="0"/>
              </a:rPr>
              <a:t>Zone 2</a:t>
            </a:r>
            <a:endParaRPr lang="en-US" sz="2000" b="1" dirty="0">
              <a:solidFill>
                <a:srgbClr val="C00000"/>
              </a:solidFill>
              <a:latin typeface="Gill Sans" pitchFamily="50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266541" y="3067001"/>
            <a:ext cx="1088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Gill Sans" pitchFamily="50" charset="0"/>
              </a:rPr>
              <a:t>Zone 3</a:t>
            </a:r>
            <a:endParaRPr lang="en-US" sz="2000" b="1" dirty="0">
              <a:solidFill>
                <a:srgbClr val="C00000"/>
              </a:solidFill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13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905864" y="1955123"/>
            <a:ext cx="7429709" cy="3691383"/>
            <a:chOff x="1905864" y="1955123"/>
            <a:chExt cx="7429709" cy="3691383"/>
          </a:xfrm>
        </p:grpSpPr>
        <p:grpSp>
          <p:nvGrpSpPr>
            <p:cNvPr id="17" name="Group 16"/>
            <p:cNvGrpSpPr/>
            <p:nvPr/>
          </p:nvGrpSpPr>
          <p:grpSpPr>
            <a:xfrm>
              <a:off x="1905864" y="1984102"/>
              <a:ext cx="2821320" cy="1280160"/>
              <a:chOff x="1905864" y="1984102"/>
              <a:chExt cx="2821320" cy="128016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1905864" y="1984102"/>
                <a:ext cx="1787069" cy="1280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190500" dist="762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chemeClr val="tx1"/>
                    </a:solidFill>
                  </a:rPr>
                  <a:t>Read input data</a:t>
                </a:r>
              </a:p>
              <a:p>
                <a:pPr algn="ctr"/>
                <a:r>
                  <a:rPr lang="en-US" sz="1600" dirty="0" smtClean="0">
                    <a:solidFill>
                      <a:schemeClr val="tx1"/>
                    </a:solidFill>
                  </a:rPr>
                  <a:t>(labelled)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Straight Arrow Connector 22"/>
              <p:cNvCxnSpPr>
                <a:stCxn id="22" idx="3"/>
                <a:endCxn id="18" idx="1"/>
              </p:cNvCxnSpPr>
              <p:nvPr/>
            </p:nvCxnSpPr>
            <p:spPr>
              <a:xfrm>
                <a:off x="3692933" y="2624182"/>
                <a:ext cx="103425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>
              <a:off x="4722372" y="1984102"/>
              <a:ext cx="2826132" cy="3662404"/>
              <a:chOff x="4722372" y="1984102"/>
              <a:chExt cx="2826132" cy="3662404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727184" y="1984102"/>
                <a:ext cx="1787069" cy="1280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190500" dist="762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rgbClr val="C00000"/>
                    </a:solidFill>
                  </a:rPr>
                  <a:t>Partition</a:t>
                </a:r>
                <a:r>
                  <a:rPr lang="en-US" sz="14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data into </a:t>
                </a:r>
                <a:r>
                  <a:rPr lang="en-US" sz="1400" b="1" dirty="0" smtClean="0">
                    <a:solidFill>
                      <a:srgbClr val="C00000"/>
                    </a:solidFill>
                  </a:rPr>
                  <a:t>training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and </a:t>
                </a:r>
                <a:r>
                  <a:rPr lang="en-US" sz="1400" b="1" dirty="0" smtClean="0">
                    <a:solidFill>
                      <a:srgbClr val="C00000"/>
                    </a:solidFill>
                  </a:rPr>
                  <a:t>testing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sets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4722372" y="4366346"/>
                <a:ext cx="1787069" cy="1280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190500" dist="762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Use metrics to evaluate the performance of </a:t>
                </a:r>
              </a:p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the classifier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Straight Arrow Connector 23"/>
              <p:cNvCxnSpPr>
                <a:endCxn id="19" idx="1"/>
              </p:cNvCxnSpPr>
              <p:nvPr/>
            </p:nvCxnSpPr>
            <p:spPr>
              <a:xfrm>
                <a:off x="6533243" y="2595203"/>
                <a:ext cx="101526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stCxn id="20" idx="1"/>
              </p:cNvCxnSpPr>
              <p:nvPr/>
            </p:nvCxnSpPr>
            <p:spPr>
              <a:xfrm flipH="1">
                <a:off x="6488537" y="5006426"/>
                <a:ext cx="105996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7548503" y="1955123"/>
              <a:ext cx="1787070" cy="3691383"/>
              <a:chOff x="7548503" y="1955123"/>
              <a:chExt cx="1787070" cy="369138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7548504" y="1955123"/>
                <a:ext cx="1787069" cy="1280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190500" dist="762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rgbClr val="C00000"/>
                    </a:solidFill>
                  </a:rPr>
                  <a:t>Train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a classifier </a:t>
                </a:r>
              </a:p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</a:rPr>
                  <a:t>using the data samples in the </a:t>
                </a:r>
                <a:r>
                  <a:rPr lang="en-US" sz="1400" b="1" dirty="0" smtClean="0">
                    <a:solidFill>
                      <a:srgbClr val="C00000"/>
                    </a:solidFill>
                  </a:rPr>
                  <a:t>training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set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548503" y="4366346"/>
                <a:ext cx="1787069" cy="128016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outerShdw blurRad="190500" dist="762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rgbClr val="C00000"/>
                    </a:solidFill>
                  </a:rPr>
                  <a:t>Test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the classifier using the data samples in the </a:t>
                </a:r>
              </a:p>
              <a:p>
                <a:pPr algn="ctr"/>
                <a:r>
                  <a:rPr lang="en-US" sz="1400" b="1" dirty="0" smtClean="0">
                    <a:solidFill>
                      <a:srgbClr val="C00000"/>
                    </a:solidFill>
                  </a:rPr>
                  <a:t>testing</a:t>
                </a:r>
                <a:r>
                  <a:rPr lang="en-US" sz="1400" dirty="0" smtClean="0">
                    <a:solidFill>
                      <a:schemeClr val="tx1"/>
                    </a:solidFill>
                  </a:rPr>
                  <a:t> set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" name="Straight Arrow Connector 25"/>
              <p:cNvCxnSpPr>
                <a:endCxn id="20" idx="0"/>
              </p:cNvCxnSpPr>
              <p:nvPr/>
            </p:nvCxnSpPr>
            <p:spPr>
              <a:xfrm>
                <a:off x="8442037" y="3233325"/>
                <a:ext cx="1" cy="113302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7" name="Picture 2" descr="Image result for scikit lea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757" y="247135"/>
            <a:ext cx="1568305" cy="84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IMPLE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M</a:t>
            </a:r>
            <a:r>
              <a:rPr lang="en-US" sz="3200" spc="300" dirty="0" smtClean="0">
                <a:latin typeface="Gill Sans" pitchFamily="50" charset="0"/>
              </a:rPr>
              <a:t>ENTATION</a:t>
            </a:r>
            <a:endParaRPr lang="en-US" sz="3200" spc="3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36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5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A DIL</a:t>
            </a:r>
            <a:r>
              <a:rPr lang="en-US" altLang="ja-JP" sz="3200" spc="600" dirty="0" smtClean="0">
                <a:solidFill>
                  <a:srgbClr val="C00000"/>
                </a:solidFill>
                <a:latin typeface="Gill Sans" pitchFamily="50" charset="0"/>
                <a:cs typeface="Segoe UI" panose="020B0502040204020203" pitchFamily="34" charset="0"/>
              </a:rPr>
              <a:t>E</a:t>
            </a:r>
            <a:r>
              <a:rPr lang="en-US" altLang="ja-JP" sz="3200" spc="600" dirty="0" smtClean="0">
                <a:latin typeface="Gill Sans" pitchFamily="50" charset="0"/>
                <a:cs typeface="Segoe UI" panose="020B0502040204020203" pitchFamily="34" charset="0"/>
              </a:rPr>
              <a:t>MMA !</a:t>
            </a:r>
            <a:endParaRPr kumimoji="1" lang="ja-JP" altLang="en-US" sz="4000" spc="600" dirty="0">
              <a:latin typeface="Gill Sans" pitchFamily="50" charset="0"/>
              <a:cs typeface="Segoe UI" panose="020B0502040204020203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499320" y="1472283"/>
            <a:ext cx="4855836" cy="4937760"/>
            <a:chOff x="2506943" y="1156143"/>
            <a:chExt cx="4855836" cy="4937760"/>
          </a:xfrm>
        </p:grpSpPr>
        <p:pic>
          <p:nvPicPr>
            <p:cNvPr id="57" name="Picture 56"/>
            <p:cNvPicPr>
              <a:picLocks noChangeAspect="1"/>
            </p:cNvPicPr>
            <p:nvPr/>
          </p:nvPicPr>
          <p:blipFill rotWithShape="1">
            <a:blip r:embed="rId3"/>
            <a:srcRect l="11073" t="1013" r="17334" b="1918"/>
            <a:stretch/>
          </p:blipFill>
          <p:spPr>
            <a:xfrm>
              <a:off x="2506943" y="1156143"/>
              <a:ext cx="4855836" cy="49377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8" name="Rectangle 57"/>
            <p:cNvSpPr/>
            <p:nvPr/>
          </p:nvSpPr>
          <p:spPr>
            <a:xfrm>
              <a:off x="6507162" y="1591191"/>
              <a:ext cx="596900" cy="39881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 rot="16200000">
              <a:off x="4777165" y="3248363"/>
              <a:ext cx="581575" cy="404164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934201" y="3255312"/>
            <a:ext cx="361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</a:rPr>
              <a:t>Which class got dropped </a:t>
            </a:r>
            <a:r>
              <a:rPr lang="en-US" sz="2400" dirty="0" smtClean="0">
                <a:latin typeface="Bookman Old Style" panose="02050604050505020204" pitchFamily="18" charset="0"/>
              </a:rPr>
              <a:t>?</a:t>
            </a:r>
            <a:r>
              <a:rPr lang="en-US" sz="2400" dirty="0" smtClean="0">
                <a:latin typeface="Gill Sans" pitchFamily="50" charset="0"/>
              </a:rPr>
              <a:t> </a:t>
            </a:r>
            <a:endParaRPr lang="en-US" sz="24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6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37" y="1813231"/>
            <a:ext cx="7839075" cy="3400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5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CON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F</a:t>
            </a:r>
            <a:r>
              <a:rPr lang="en-US" sz="3200" spc="300" dirty="0" smtClean="0">
                <a:latin typeface="Gill Sans" pitchFamily="50" charset="0"/>
              </a:rPr>
              <a:t>USION MA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T</a:t>
            </a:r>
            <a:r>
              <a:rPr lang="en-US" sz="3200" spc="300" dirty="0" smtClean="0">
                <a:latin typeface="Gill Sans" pitchFamily="50" charset="0"/>
              </a:rPr>
              <a:t>RIX</a:t>
            </a:r>
            <a:endParaRPr lang="en-US" sz="3200" spc="3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00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0347" y="-58056"/>
            <a:ext cx="11870691" cy="6858000"/>
            <a:chOff x="3173" y="-85726"/>
            <a:chExt cx="11870691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3173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03634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54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CL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A</a:t>
            </a:r>
            <a:r>
              <a:rPr lang="en-US" sz="3200" spc="300" dirty="0" smtClean="0">
                <a:latin typeface="Gill Sans" pitchFamily="50" charset="0"/>
              </a:rPr>
              <a:t>SS IMBA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L</a:t>
            </a:r>
            <a:r>
              <a:rPr lang="en-US" sz="3200" spc="300" dirty="0" smtClean="0">
                <a:latin typeface="Gill Sans" pitchFamily="50" charset="0"/>
              </a:rPr>
              <a:t>ANCE</a:t>
            </a:r>
            <a:endParaRPr lang="en-US" sz="3200" spc="300" dirty="0">
              <a:latin typeface="Gill Sans" pitchFamily="50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548578"/>
              </p:ext>
            </p:extLst>
          </p:nvPr>
        </p:nvGraphicFramePr>
        <p:xfrm>
          <a:off x="1721920" y="1833730"/>
          <a:ext cx="8127999" cy="35598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2686"/>
                <a:gridCol w="2859314"/>
                <a:gridCol w="3555999"/>
              </a:tblGrid>
              <a:tr h="96399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Zone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Number of samples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Percentage of the samples (in %)</a:t>
                      </a:r>
                    </a:p>
                    <a:p>
                      <a:pPr algn="ctr"/>
                      <a:r>
                        <a:rPr lang="en-US" dirty="0" smtClean="0"/>
                        <a:t>(Total : 1420) 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0.003521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32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0.022535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731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0.514789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475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0.334507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83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0.058451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0.012676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0.053521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739700" y="3558540"/>
            <a:ext cx="8092440" cy="328284"/>
          </a:xfrm>
          <a:prstGeom prst="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39700" y="3932166"/>
            <a:ext cx="8092440" cy="328284"/>
          </a:xfrm>
          <a:prstGeom prst="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1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0347" y="-58056"/>
            <a:ext cx="11870691" cy="6858000"/>
            <a:chOff x="3173" y="-85726"/>
            <a:chExt cx="11870691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3173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03634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54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CL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A</a:t>
            </a:r>
            <a:r>
              <a:rPr lang="en-US" sz="3200" spc="300" dirty="0" smtClean="0">
                <a:latin typeface="Gill Sans" pitchFamily="50" charset="0"/>
              </a:rPr>
              <a:t>SS IMBA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L</a:t>
            </a:r>
            <a:r>
              <a:rPr lang="en-US" sz="3200" spc="300" dirty="0" smtClean="0">
                <a:latin typeface="Gill Sans" pitchFamily="50" charset="0"/>
              </a:rPr>
              <a:t>ANCE</a:t>
            </a:r>
            <a:endParaRPr lang="en-US" sz="3200" spc="300" dirty="0">
              <a:latin typeface="Gill Sans" pitchFamily="50" charset="0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3"/>
          <a:srcRect l="11250" t="1452" r="19306" b="1722"/>
          <a:stretch/>
        </p:blipFill>
        <p:spPr>
          <a:xfrm>
            <a:off x="1555292" y="1341205"/>
            <a:ext cx="4721900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7025068" y="2828835"/>
            <a:ext cx="3314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Gill Sans" pitchFamily="50" charset="0"/>
              </a:rPr>
              <a:t>Classifier </a:t>
            </a:r>
            <a:r>
              <a:rPr lang="en-US" sz="2400" b="1" dirty="0" smtClean="0">
                <a:solidFill>
                  <a:srgbClr val="C00000"/>
                </a:solidFill>
                <a:latin typeface="Gill Sans" pitchFamily="50" charset="0"/>
              </a:rPr>
              <a:t>biased</a:t>
            </a:r>
            <a:r>
              <a:rPr lang="en-US" sz="2400" dirty="0" smtClean="0">
                <a:latin typeface="Gill Sans" pitchFamily="50" charset="0"/>
              </a:rPr>
              <a:t> towards majority class !</a:t>
            </a:r>
            <a:endParaRPr lang="en-US" sz="2400" dirty="0">
              <a:latin typeface="Gill Sans" pitchFamily="50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120571" y="1584478"/>
            <a:ext cx="740230" cy="42357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1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0347" y="-58056"/>
            <a:ext cx="11870691" cy="6858000"/>
            <a:chOff x="3173" y="-85726"/>
            <a:chExt cx="11870691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3173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03634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54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    CL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A</a:t>
            </a:r>
            <a:r>
              <a:rPr lang="en-US" sz="3200" spc="300" dirty="0" smtClean="0">
                <a:latin typeface="Gill Sans" pitchFamily="50" charset="0"/>
              </a:rPr>
              <a:t>SS IMBA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L</a:t>
            </a:r>
            <a:r>
              <a:rPr lang="en-US" sz="3200" spc="300" dirty="0" smtClean="0">
                <a:latin typeface="Gill Sans" pitchFamily="50" charset="0"/>
              </a:rPr>
              <a:t>ANCE</a:t>
            </a:r>
            <a:endParaRPr lang="en-US" sz="3200" spc="300" dirty="0">
              <a:latin typeface="Gill Sans" pitchFamily="50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643085" y="532843"/>
            <a:ext cx="0" cy="54864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820002" y="1864419"/>
            <a:ext cx="806994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Gill Sans" pitchFamily="50" charset="0"/>
              </a:rPr>
              <a:t>2 common approaches : </a:t>
            </a:r>
          </a:p>
          <a:p>
            <a:endParaRPr lang="en-US" sz="2400" dirty="0" smtClean="0">
              <a:latin typeface="Gill Sans" pitchFamily="50" charset="0"/>
            </a:endParaRPr>
          </a:p>
          <a:p>
            <a:pPr marL="457200" indent="-457200">
              <a:buAutoNum type="arabicPeriod"/>
            </a:pP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</a:rPr>
              <a:t>Over - sampling</a:t>
            </a:r>
            <a:r>
              <a:rPr lang="en-US" sz="2400" dirty="0" smtClean="0">
                <a:latin typeface="Gill Sans" pitchFamily="50" charset="0"/>
              </a:rPr>
              <a:t> </a:t>
            </a:r>
            <a:r>
              <a:rPr lang="en-US" sz="2400" dirty="0">
                <a:latin typeface="Gill Sans" pitchFamily="50" charset="0"/>
              </a:rPr>
              <a:t>- replicating a few instances of the 			        </a:t>
            </a:r>
            <a:r>
              <a:rPr lang="en-US" sz="2400" dirty="0" smtClean="0">
                <a:latin typeface="Gill Sans" pitchFamily="50" charset="0"/>
              </a:rPr>
              <a:t>  minority classes.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rgbClr val="C00000"/>
              </a:solidFill>
              <a:latin typeface="Gill Sans" pitchFamily="50" charset="0"/>
            </a:endParaRPr>
          </a:p>
          <a:p>
            <a:pPr marL="457200" indent="-457200">
              <a:buAutoNum type="arabicPeriod"/>
            </a:pP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</a:rPr>
              <a:t>Under - sampling</a:t>
            </a:r>
            <a:r>
              <a:rPr lang="en-US" sz="2400" dirty="0" smtClean="0">
                <a:latin typeface="Gill Sans" pitchFamily="50" charset="0"/>
              </a:rPr>
              <a:t> - removing </a:t>
            </a:r>
            <a:r>
              <a:rPr lang="en-US" sz="2400" dirty="0">
                <a:latin typeface="Gill Sans" pitchFamily="50" charset="0"/>
              </a:rPr>
              <a:t>a few instances of </a:t>
            </a:r>
            <a:r>
              <a:rPr lang="en-US" sz="2400" dirty="0" smtClean="0">
                <a:latin typeface="Gill Sans" pitchFamily="50" charset="0"/>
              </a:rPr>
              <a:t>            	                       the majority classes.	</a:t>
            </a:r>
          </a:p>
          <a:p>
            <a:pPr marL="457200" indent="-457200">
              <a:buAutoNum type="arabicPeriod"/>
            </a:pPr>
            <a:endParaRPr lang="en-US" sz="2400" dirty="0" smtClean="0">
              <a:latin typeface="Gill Sans" pitchFamily="50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43942" y="4193042"/>
            <a:ext cx="798286" cy="9740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47506" y="5167086"/>
            <a:ext cx="4994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" pitchFamily="50" charset="0"/>
              </a:rPr>
              <a:t>May lead to 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</a:rPr>
              <a:t>loss </a:t>
            </a:r>
            <a:r>
              <a:rPr lang="en-US" sz="2400" dirty="0" smtClean="0">
                <a:latin typeface="Gill Sans" pitchFamily="50" charset="0"/>
              </a:rPr>
              <a:t>of </a:t>
            </a:r>
            <a:r>
              <a:rPr lang="en-US" sz="2400" dirty="0" smtClean="0">
                <a:solidFill>
                  <a:srgbClr val="C00000"/>
                </a:solidFill>
                <a:latin typeface="Gill Sans" pitchFamily="50" charset="0"/>
              </a:rPr>
              <a:t>critical </a:t>
            </a:r>
            <a:r>
              <a:rPr lang="en-US" sz="2400" dirty="0" smtClean="0">
                <a:latin typeface="Gill Sans" pitchFamily="50" charset="0"/>
              </a:rPr>
              <a:t>information</a:t>
            </a:r>
            <a:endParaRPr lang="en-US" sz="24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64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343" y="752103"/>
            <a:ext cx="7802064" cy="5239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533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0347" y="-58056"/>
            <a:ext cx="11870691" cy="6858000"/>
            <a:chOff x="3173" y="-85726"/>
            <a:chExt cx="11870691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3173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6003634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54" name="タイトル 3"/>
          <p:cNvSpPr txBox="1">
            <a:spLocks/>
          </p:cNvSpPr>
          <p:nvPr/>
        </p:nvSpPr>
        <p:spPr>
          <a:xfrm>
            <a:off x="276431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OUT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C</a:t>
            </a:r>
            <a:r>
              <a:rPr lang="en-US" sz="3200" spc="300" dirty="0" smtClean="0">
                <a:latin typeface="Gill Sans" pitchFamily="50" charset="0"/>
              </a:rPr>
              <a:t>OME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39700" y="3558540"/>
            <a:ext cx="8092440" cy="328284"/>
          </a:xfrm>
          <a:prstGeom prst="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39700" y="3932166"/>
            <a:ext cx="8092440" cy="328284"/>
          </a:xfrm>
          <a:prstGeom prst="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313715" y="4291278"/>
            <a:ext cx="3518176" cy="356402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11425" y="4647680"/>
            <a:ext cx="3518176" cy="356402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311425" y="5033560"/>
            <a:ext cx="3518176" cy="356402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311425" y="3164911"/>
            <a:ext cx="3518176" cy="356402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311425" y="2808580"/>
            <a:ext cx="3518176" cy="356402"/>
          </a:xfrm>
          <a:prstGeom prst="rect">
            <a:avLst/>
          </a:prstGeom>
          <a:solidFill>
            <a:srgbClr val="00B05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7" t="26436" r="10812" b="508"/>
          <a:stretch/>
        </p:blipFill>
        <p:spPr>
          <a:xfrm>
            <a:off x="1656606" y="1763094"/>
            <a:ext cx="8258628" cy="3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6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rgbClr val="FF5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11251837" y="0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93196" y="2562223"/>
            <a:ext cx="83247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Gill Sans" pitchFamily="50" charset="0"/>
              </a:rPr>
              <a:t>Comes with a cost</a:t>
            </a:r>
          </a:p>
          <a:p>
            <a:pPr marL="285750" indent="-285750" algn="ctr">
              <a:buFontTx/>
              <a:buChar char="-"/>
            </a:pPr>
            <a:endParaRPr lang="en-US" sz="3200" dirty="0">
              <a:solidFill>
                <a:srgbClr val="C00000"/>
              </a:solidFill>
              <a:latin typeface="Gill Sans" pitchFamily="50" charset="0"/>
            </a:endParaRPr>
          </a:p>
          <a:p>
            <a:pPr algn="ctr"/>
            <a:r>
              <a:rPr lang="en-US" sz="3200" dirty="0" smtClean="0">
                <a:latin typeface="Gill Sans" pitchFamily="50" charset="0"/>
              </a:rPr>
              <a:t>Increases data size and hence the time required</a:t>
            </a:r>
            <a:endParaRPr lang="en-US" sz="32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58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0.85638 -0.0111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26" y="-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xit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75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64049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19" name="タイトル 3"/>
          <p:cNvSpPr txBox="1">
            <a:spLocks/>
          </p:cNvSpPr>
          <p:nvPr/>
        </p:nvSpPr>
        <p:spPr>
          <a:xfrm>
            <a:off x="-463154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K</a:t>
            </a:r>
            <a:r>
              <a:rPr lang="en-US" sz="3200" spc="300" dirty="0" smtClean="0">
                <a:latin typeface="Gill Sans" pitchFamily="50" charset="0"/>
              </a:rPr>
              <a:t>-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N</a:t>
            </a:r>
            <a:r>
              <a:rPr lang="en-US" sz="3200" spc="300" dirty="0" smtClean="0">
                <a:latin typeface="Gill Sans" pitchFamily="50" charset="0"/>
              </a:rPr>
              <a:t>EAREST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N</a:t>
            </a:r>
            <a:r>
              <a:rPr lang="en-US" sz="3200" spc="300" dirty="0" smtClean="0">
                <a:latin typeface="Gill Sans" pitchFamily="50" charset="0"/>
              </a:rPr>
              <a:t>EIGHBORS</a:t>
            </a:r>
            <a:endParaRPr lang="en-US" sz="3200" spc="300" dirty="0">
              <a:latin typeface="Gill Sans" pitchFamily="50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214720" y="1709723"/>
            <a:ext cx="1599552" cy="1646044"/>
            <a:chOff x="1885821" y="2421373"/>
            <a:chExt cx="1599552" cy="1646044"/>
          </a:xfrm>
        </p:grpSpPr>
        <p:sp>
          <p:nvSpPr>
            <p:cNvPr id="21" name="Oval 20"/>
            <p:cNvSpPr/>
            <p:nvPr/>
          </p:nvSpPr>
          <p:spPr>
            <a:xfrm>
              <a:off x="1964998" y="2486358"/>
              <a:ext cx="1508760" cy="1508760"/>
            </a:xfrm>
            <a:prstGeom prst="ellipse">
              <a:avLst/>
            </a:prstGeom>
            <a:noFill/>
            <a:ln w="19050">
              <a:solidFill>
                <a:srgbClr val="FB43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213921" y="2982724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smtClean="0">
                  <a:latin typeface="Bookman Old Style" panose="02050604050505020204" pitchFamily="18" charset="0"/>
                </a:rPr>
                <a:t>69%</a:t>
              </a:r>
              <a:endParaRPr lang="en-US" sz="28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1885821" y="2421373"/>
              <a:ext cx="1599552" cy="1646044"/>
            </a:xfrm>
            <a:custGeom>
              <a:avLst/>
              <a:gdLst>
                <a:gd name="connsiteX0" fmla="*/ 823013 w 1599552"/>
                <a:gd name="connsiteY0" fmla="*/ 0 h 1646044"/>
                <a:gd name="connsiteX1" fmla="*/ 823013 w 1599552"/>
                <a:gd name="connsiteY1" fmla="*/ 91441 h 1646044"/>
                <a:gd name="connsiteX2" fmla="*/ 675587 w 1599552"/>
                <a:gd name="connsiteY2" fmla="*/ 106303 h 1646044"/>
                <a:gd name="connsiteX3" fmla="*/ 91494 w 1599552"/>
                <a:gd name="connsiteY3" fmla="*/ 822961 h 1646044"/>
                <a:gd name="connsiteX4" fmla="*/ 823014 w 1599552"/>
                <a:gd name="connsiteY4" fmla="*/ 1554481 h 1646044"/>
                <a:gd name="connsiteX5" fmla="*/ 1497048 w 1599552"/>
                <a:gd name="connsiteY5" fmla="*/ 1107702 h 1646044"/>
                <a:gd name="connsiteX6" fmla="*/ 1510545 w 1599552"/>
                <a:gd name="connsiteY6" fmla="*/ 1064219 h 1646044"/>
                <a:gd name="connsiteX7" fmla="*/ 1599552 w 1599552"/>
                <a:gd name="connsiteY7" fmla="*/ 1095452 h 1646044"/>
                <a:gd name="connsiteX8" fmla="*/ 639416 w 1599552"/>
                <a:gd name="connsiteY8" fmla="*/ 1625179 h 1646044"/>
                <a:gd name="connsiteX9" fmla="*/ 5255 w 1599552"/>
                <a:gd name="connsiteY9" fmla="*/ 730577 h 1646044"/>
                <a:gd name="connsiteX10" fmla="*/ 823013 w 1599552"/>
                <a:gd name="connsiteY10" fmla="*/ 0 h 1646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9552" h="1646044">
                  <a:moveTo>
                    <a:pt x="823013" y="0"/>
                  </a:moveTo>
                  <a:lnTo>
                    <a:pt x="823013" y="91441"/>
                  </a:lnTo>
                  <a:lnTo>
                    <a:pt x="675587" y="106303"/>
                  </a:lnTo>
                  <a:cubicBezTo>
                    <a:pt x="342246" y="174515"/>
                    <a:pt x="91494" y="469455"/>
                    <a:pt x="91494" y="822961"/>
                  </a:cubicBezTo>
                  <a:cubicBezTo>
                    <a:pt x="91494" y="1226968"/>
                    <a:pt x="419007" y="1554481"/>
                    <a:pt x="823014" y="1554481"/>
                  </a:cubicBezTo>
                  <a:cubicBezTo>
                    <a:pt x="1126019" y="1554481"/>
                    <a:pt x="1385997" y="1370255"/>
                    <a:pt x="1497048" y="1107702"/>
                  </a:cubicBezTo>
                  <a:lnTo>
                    <a:pt x="1510545" y="1064219"/>
                  </a:lnTo>
                  <a:lnTo>
                    <a:pt x="1599552" y="1095452"/>
                  </a:lnTo>
                  <a:cubicBezTo>
                    <a:pt x="1460895" y="1490592"/>
                    <a:pt x="1047624" y="1718603"/>
                    <a:pt x="639416" y="1625179"/>
                  </a:cubicBezTo>
                  <a:cubicBezTo>
                    <a:pt x="231209" y="1531756"/>
                    <a:pt x="-41753" y="1146692"/>
                    <a:pt x="5255" y="730577"/>
                  </a:cubicBezTo>
                  <a:cubicBezTo>
                    <a:pt x="52264" y="314463"/>
                    <a:pt x="404252" y="0"/>
                    <a:pt x="823013" y="0"/>
                  </a:cubicBezTo>
                  <a:close/>
                </a:path>
              </a:pathLst>
            </a:custGeom>
            <a:gradFill>
              <a:gsLst>
                <a:gs pos="68000">
                  <a:srgbClr val="F7AA2A"/>
                </a:gs>
                <a:gs pos="34000">
                  <a:srgbClr val="FB4355"/>
                </a:gs>
                <a:gs pos="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4" name="Oval 23"/>
          <p:cNvSpPr/>
          <p:nvPr/>
        </p:nvSpPr>
        <p:spPr>
          <a:xfrm>
            <a:off x="1283356" y="4052587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542822" y="4545357"/>
            <a:ext cx="1010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Bookman Old Style" panose="02050604050505020204" pitchFamily="18" charset="0"/>
              </a:rPr>
              <a:t>80%</a:t>
            </a:r>
            <a:endParaRPr lang="en-US" sz="2800" b="1" dirty="0">
              <a:latin typeface="Bookman Old Style" panose="02050604050505020204" pitchFamily="18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214720" y="3984007"/>
            <a:ext cx="1646031" cy="1645919"/>
          </a:xfrm>
          <a:custGeom>
            <a:avLst/>
            <a:gdLst>
              <a:gd name="connsiteX0" fmla="*/ 823019 w 1646031"/>
              <a:gd name="connsiteY0" fmla="*/ 0 h 1645919"/>
              <a:gd name="connsiteX1" fmla="*/ 823019 w 1646031"/>
              <a:gd name="connsiteY1" fmla="*/ 91578 h 1645919"/>
              <a:gd name="connsiteX2" fmla="*/ 750966 w 1646031"/>
              <a:gd name="connsiteY2" fmla="*/ 95216 h 1645919"/>
              <a:gd name="connsiteX3" fmla="*/ 94239 w 1646031"/>
              <a:gd name="connsiteY3" fmla="*/ 822959 h 1645919"/>
              <a:gd name="connsiteX4" fmla="*/ 825759 w 1646031"/>
              <a:gd name="connsiteY4" fmla="*/ 1554479 h 1645919"/>
              <a:gd name="connsiteX5" fmla="*/ 1557279 w 1646031"/>
              <a:gd name="connsiteY5" fmla="*/ 822959 h 1645919"/>
              <a:gd name="connsiteX6" fmla="*/ 1542417 w 1646031"/>
              <a:gd name="connsiteY6" fmla="*/ 675532 h 1645919"/>
              <a:gd name="connsiteX7" fmla="*/ 1510390 w 1646031"/>
              <a:gd name="connsiteY7" fmla="*/ 572359 h 1645919"/>
              <a:gd name="connsiteX8" fmla="*/ 1596197 w 1646031"/>
              <a:gd name="connsiteY8" fmla="*/ 541076 h 1645919"/>
              <a:gd name="connsiteX9" fmla="*/ 1324267 w 1646031"/>
              <a:gd name="connsiteY9" fmla="*/ 1475656 h 1645919"/>
              <a:gd name="connsiteX10" fmla="*/ 351169 w 1646031"/>
              <a:gd name="connsiteY10" fmla="*/ 1497215 h 1645919"/>
              <a:gd name="connsiteX11" fmla="*/ 38115 w 1646031"/>
              <a:gd name="connsiteY11" fmla="*/ 575596 h 1645919"/>
              <a:gd name="connsiteX12" fmla="*/ 823019 w 1646031"/>
              <a:gd name="connsiteY12" fmla="*/ 0 h 164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46031" h="1645919">
                <a:moveTo>
                  <a:pt x="823019" y="0"/>
                </a:moveTo>
                <a:lnTo>
                  <a:pt x="823019" y="91578"/>
                </a:lnTo>
                <a:lnTo>
                  <a:pt x="750966" y="95216"/>
                </a:lnTo>
                <a:cubicBezTo>
                  <a:pt x="382092" y="132677"/>
                  <a:pt x="94239" y="444203"/>
                  <a:pt x="94239" y="822959"/>
                </a:cubicBezTo>
                <a:cubicBezTo>
                  <a:pt x="94239" y="1226966"/>
                  <a:pt x="421752" y="1554479"/>
                  <a:pt x="825759" y="1554479"/>
                </a:cubicBezTo>
                <a:cubicBezTo>
                  <a:pt x="1229766" y="1554479"/>
                  <a:pt x="1557279" y="1226966"/>
                  <a:pt x="1557279" y="822959"/>
                </a:cubicBezTo>
                <a:cubicBezTo>
                  <a:pt x="1557279" y="772458"/>
                  <a:pt x="1552162" y="723153"/>
                  <a:pt x="1542417" y="675532"/>
                </a:cubicBezTo>
                <a:lnTo>
                  <a:pt x="1510390" y="572359"/>
                </a:lnTo>
                <a:lnTo>
                  <a:pt x="1596197" y="541076"/>
                </a:lnTo>
                <a:cubicBezTo>
                  <a:pt x="1719237" y="878564"/>
                  <a:pt x="1609165" y="1256864"/>
                  <a:pt x="1324267" y="1475656"/>
                </a:cubicBezTo>
                <a:cubicBezTo>
                  <a:pt x="1039369" y="1694448"/>
                  <a:pt x="645477" y="1703175"/>
                  <a:pt x="351169" y="1497215"/>
                </a:cubicBezTo>
                <a:cubicBezTo>
                  <a:pt x="56860" y="1291255"/>
                  <a:pt x="-69858" y="918201"/>
                  <a:pt x="38115" y="575596"/>
                </a:cubicBezTo>
                <a:cubicBezTo>
                  <a:pt x="146088" y="232990"/>
                  <a:pt x="463802" y="0"/>
                  <a:pt x="823019" y="0"/>
                </a:cubicBezTo>
                <a:close/>
              </a:path>
            </a:pathLst>
          </a:custGeom>
          <a:gradFill>
            <a:gsLst>
              <a:gs pos="74000">
                <a:srgbClr val="F7AA2A"/>
              </a:gs>
              <a:gs pos="33600">
                <a:srgbClr val="FB4355"/>
              </a:gs>
              <a:gs pos="0">
                <a:srgbClr val="FB3849"/>
              </a:gs>
              <a:gs pos="100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20217" y="2321835"/>
            <a:ext cx="80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" pitchFamily="50" charset="0"/>
              </a:rPr>
              <a:t>k</a:t>
            </a:r>
            <a:r>
              <a:rPr lang="en-US" dirty="0" smtClean="0">
                <a:latin typeface="Gill Sans" pitchFamily="50" charset="0"/>
              </a:rPr>
              <a:t> = 3</a:t>
            </a:r>
            <a:endParaRPr lang="en-US" dirty="0">
              <a:latin typeface="Gill Sans" pitchFamily="50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20217" y="4699245"/>
            <a:ext cx="71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" pitchFamily="50" charset="0"/>
              </a:rPr>
              <a:t>k</a:t>
            </a:r>
            <a:r>
              <a:rPr lang="en-US" dirty="0" smtClean="0">
                <a:latin typeface="Gill Sans" pitchFamily="50" charset="0"/>
              </a:rPr>
              <a:t> = 1</a:t>
            </a:r>
            <a:endParaRPr lang="en-US" dirty="0">
              <a:latin typeface="Gill Sans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80043" y="5684785"/>
            <a:ext cx="113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" pitchFamily="50" charset="0"/>
              </a:rPr>
              <a:t>Optimum</a:t>
            </a:r>
            <a:endParaRPr lang="en-US" dirty="0">
              <a:latin typeface="Gill Sans" pitchFamily="50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2"/>
          <a:srcRect l="11963" t="1894" r="19539" b="2778"/>
          <a:stretch/>
        </p:blipFill>
        <p:spPr>
          <a:xfrm>
            <a:off x="4652274" y="1299764"/>
            <a:ext cx="4730654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23708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19" name="タイトル 3"/>
          <p:cNvSpPr txBox="1">
            <a:spLocks/>
          </p:cNvSpPr>
          <p:nvPr/>
        </p:nvSpPr>
        <p:spPr>
          <a:xfrm>
            <a:off x="-503495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S</a:t>
            </a:r>
            <a:r>
              <a:rPr lang="en-US" sz="3200" spc="300" dirty="0" smtClean="0">
                <a:latin typeface="Gill Sans" pitchFamily="50" charset="0"/>
              </a:rPr>
              <a:t>UPPORT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V</a:t>
            </a:r>
            <a:r>
              <a:rPr lang="en-US" sz="3200" spc="300" dirty="0" smtClean="0">
                <a:latin typeface="Gill Sans" pitchFamily="50" charset="0"/>
              </a:rPr>
              <a:t>ECTOR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M</a:t>
            </a:r>
            <a:r>
              <a:rPr lang="en-US" sz="3200" spc="300" dirty="0" smtClean="0">
                <a:latin typeface="Gill Sans" pitchFamily="50" charset="0"/>
              </a:rPr>
              <a:t>ACHINE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253556" y="1774708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079876" y="2321835"/>
            <a:ext cx="80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" pitchFamily="50" charset="0"/>
              </a:rPr>
              <a:t>c = 1</a:t>
            </a:r>
            <a:endParaRPr lang="en-US" dirty="0">
              <a:latin typeface="Gill Sans" pitchFamily="50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79876" y="4699245"/>
            <a:ext cx="80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" pitchFamily="50" charset="0"/>
              </a:rPr>
              <a:t>c = 19</a:t>
            </a:r>
            <a:endParaRPr lang="en-US" dirty="0">
              <a:latin typeface="Gill Sans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39702" y="5684785"/>
            <a:ext cx="113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" pitchFamily="50" charset="0"/>
              </a:rPr>
              <a:t>Optimum</a:t>
            </a:r>
            <a:endParaRPr lang="en-US" dirty="0">
              <a:latin typeface="Gill Sans" pitchFamily="50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243015" y="4052587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2"/>
          <a:srcRect l="11806" t="1967" r="19720" b="2853"/>
          <a:stretch/>
        </p:blipFill>
        <p:spPr>
          <a:xfrm>
            <a:off x="4611932" y="1298372"/>
            <a:ext cx="4736435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oup 19"/>
          <p:cNvGrpSpPr/>
          <p:nvPr/>
        </p:nvGrpSpPr>
        <p:grpSpPr>
          <a:xfrm>
            <a:off x="1179538" y="1683512"/>
            <a:ext cx="1635714" cy="1645977"/>
            <a:chOff x="1885858" y="2421375"/>
            <a:chExt cx="1635714" cy="1645977"/>
          </a:xfrm>
        </p:grpSpPr>
        <p:sp>
          <p:nvSpPr>
            <p:cNvPr id="21" name="Rectangle 20"/>
            <p:cNvSpPr/>
            <p:nvPr/>
          </p:nvSpPr>
          <p:spPr>
            <a:xfrm>
              <a:off x="2213809" y="2982724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smtClean="0">
                  <a:latin typeface="Bookman Old Style" panose="02050604050505020204" pitchFamily="18" charset="0"/>
                </a:rPr>
                <a:t>72%</a:t>
              </a:r>
              <a:endParaRPr lang="en-US" sz="28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1885858" y="2421375"/>
              <a:ext cx="1635714" cy="1645977"/>
            </a:xfrm>
            <a:custGeom>
              <a:avLst/>
              <a:gdLst>
                <a:gd name="connsiteX0" fmla="*/ 822977 w 1635714"/>
                <a:gd name="connsiteY0" fmla="*/ 0 h 1645977"/>
                <a:gd name="connsiteX1" fmla="*/ 822977 w 1635714"/>
                <a:gd name="connsiteY1" fmla="*/ 91439 h 1645977"/>
                <a:gd name="connsiteX2" fmla="*/ 91457 w 1635714"/>
                <a:gd name="connsiteY2" fmla="*/ 822959 h 1645977"/>
                <a:gd name="connsiteX3" fmla="*/ 822977 w 1635714"/>
                <a:gd name="connsiteY3" fmla="*/ 1554479 h 1645977"/>
                <a:gd name="connsiteX4" fmla="*/ 1539635 w 1635714"/>
                <a:gd name="connsiteY4" fmla="*/ 970386 h 1645977"/>
                <a:gd name="connsiteX5" fmla="*/ 1544612 w 1635714"/>
                <a:gd name="connsiteY5" fmla="*/ 937777 h 1645977"/>
                <a:gd name="connsiteX6" fmla="*/ 1635714 w 1635714"/>
                <a:gd name="connsiteY6" fmla="*/ 952272 h 1645977"/>
                <a:gd name="connsiteX7" fmla="*/ 736569 w 1635714"/>
                <a:gd name="connsiteY7" fmla="*/ 1641371 h 1645977"/>
                <a:gd name="connsiteX8" fmla="*/ 1155 w 1635714"/>
                <a:gd name="connsiteY8" fmla="*/ 779696 h 1645977"/>
                <a:gd name="connsiteX9" fmla="*/ 822977 w 1635714"/>
                <a:gd name="connsiteY9" fmla="*/ 0 h 164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5714" h="1645977">
                  <a:moveTo>
                    <a:pt x="822977" y="0"/>
                  </a:moveTo>
                  <a:lnTo>
                    <a:pt x="822977" y="91439"/>
                  </a:lnTo>
                  <a:cubicBezTo>
                    <a:pt x="418970" y="91439"/>
                    <a:pt x="91457" y="418952"/>
                    <a:pt x="91457" y="822959"/>
                  </a:cubicBezTo>
                  <a:cubicBezTo>
                    <a:pt x="91457" y="1226966"/>
                    <a:pt x="418970" y="1554479"/>
                    <a:pt x="822977" y="1554479"/>
                  </a:cubicBezTo>
                  <a:cubicBezTo>
                    <a:pt x="1176483" y="1554479"/>
                    <a:pt x="1471424" y="1303727"/>
                    <a:pt x="1539635" y="970386"/>
                  </a:cubicBezTo>
                  <a:lnTo>
                    <a:pt x="1544612" y="937777"/>
                  </a:lnTo>
                  <a:lnTo>
                    <a:pt x="1635714" y="952272"/>
                  </a:lnTo>
                  <a:cubicBezTo>
                    <a:pt x="1566938" y="1384530"/>
                    <a:pt x="1171846" y="1687327"/>
                    <a:pt x="736569" y="1641371"/>
                  </a:cubicBezTo>
                  <a:cubicBezTo>
                    <a:pt x="301293" y="1595415"/>
                    <a:pt x="-21855" y="1216786"/>
                    <a:pt x="1155" y="779696"/>
                  </a:cubicBezTo>
                  <a:cubicBezTo>
                    <a:pt x="24165" y="342606"/>
                    <a:pt x="385281" y="0"/>
                    <a:pt x="822977" y="0"/>
                  </a:cubicBezTo>
                  <a:close/>
                </a:path>
              </a:pathLst>
            </a:custGeom>
            <a:gradFill>
              <a:gsLst>
                <a:gs pos="69000">
                  <a:srgbClr val="F7AA2A"/>
                </a:gs>
                <a:gs pos="40000">
                  <a:srgbClr val="FB3849"/>
                </a:gs>
                <a:gs pos="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169251" y="3986477"/>
            <a:ext cx="1646001" cy="1645926"/>
            <a:chOff x="5206312" y="3975854"/>
            <a:chExt cx="1646001" cy="1645926"/>
          </a:xfrm>
        </p:grpSpPr>
        <p:sp>
          <p:nvSpPr>
            <p:cNvPr id="24" name="Rectangle 23"/>
            <p:cNvSpPr/>
            <p:nvPr/>
          </p:nvSpPr>
          <p:spPr>
            <a:xfrm>
              <a:off x="5518489" y="4560122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smtClean="0">
                  <a:latin typeface="Bookman Old Style" panose="02050604050505020204" pitchFamily="18" charset="0"/>
                </a:rPr>
                <a:t>77%</a:t>
              </a:r>
              <a:endParaRPr lang="en-US" sz="28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206312" y="3975854"/>
              <a:ext cx="1646001" cy="1645926"/>
            </a:xfrm>
            <a:custGeom>
              <a:avLst/>
              <a:gdLst>
                <a:gd name="connsiteX0" fmla="*/ 823001 w 1646001"/>
                <a:gd name="connsiteY0" fmla="*/ 0 h 1645926"/>
                <a:gd name="connsiteX1" fmla="*/ 823001 w 1646001"/>
                <a:gd name="connsiteY1" fmla="*/ 91440 h 1645926"/>
                <a:gd name="connsiteX2" fmla="*/ 91481 w 1646001"/>
                <a:gd name="connsiteY2" fmla="*/ 822960 h 1645926"/>
                <a:gd name="connsiteX3" fmla="*/ 823001 w 1646001"/>
                <a:gd name="connsiteY3" fmla="*/ 1554480 h 1645926"/>
                <a:gd name="connsiteX4" fmla="*/ 1554521 w 1646001"/>
                <a:gd name="connsiteY4" fmla="*/ 822960 h 1645926"/>
                <a:gd name="connsiteX5" fmla="*/ 1550744 w 1646001"/>
                <a:gd name="connsiteY5" fmla="*/ 748167 h 1645926"/>
                <a:gd name="connsiteX6" fmla="*/ 1542425 w 1646001"/>
                <a:gd name="connsiteY6" fmla="*/ 693656 h 1645926"/>
                <a:gd name="connsiteX7" fmla="*/ 1632982 w 1646001"/>
                <a:gd name="connsiteY7" fmla="*/ 677380 h 1645926"/>
                <a:gd name="connsiteX8" fmla="*/ 1236244 w 1646001"/>
                <a:gd name="connsiteY8" fmla="*/ 1534643 h 1645926"/>
                <a:gd name="connsiteX9" fmla="*/ 295054 w 1646001"/>
                <a:gd name="connsiteY9" fmla="*/ 1454256 h 1645926"/>
                <a:gd name="connsiteX10" fmla="*/ 49440 w 1646001"/>
                <a:gd name="connsiteY10" fmla="*/ 542129 h 1645926"/>
                <a:gd name="connsiteX11" fmla="*/ 823001 w 1646001"/>
                <a:gd name="connsiteY11" fmla="*/ 0 h 164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46001" h="1645926">
                  <a:moveTo>
                    <a:pt x="823001" y="0"/>
                  </a:moveTo>
                  <a:lnTo>
                    <a:pt x="823001" y="91440"/>
                  </a:lnTo>
                  <a:cubicBezTo>
                    <a:pt x="418994" y="91440"/>
                    <a:pt x="91481" y="418953"/>
                    <a:pt x="91481" y="822960"/>
                  </a:cubicBezTo>
                  <a:cubicBezTo>
                    <a:pt x="91481" y="1226967"/>
                    <a:pt x="418994" y="1554480"/>
                    <a:pt x="823001" y="1554480"/>
                  </a:cubicBezTo>
                  <a:cubicBezTo>
                    <a:pt x="1227008" y="1554480"/>
                    <a:pt x="1554521" y="1226967"/>
                    <a:pt x="1554521" y="822960"/>
                  </a:cubicBezTo>
                  <a:cubicBezTo>
                    <a:pt x="1554521" y="797710"/>
                    <a:pt x="1553242" y="772758"/>
                    <a:pt x="1550744" y="748167"/>
                  </a:cubicBezTo>
                  <a:lnTo>
                    <a:pt x="1542425" y="693656"/>
                  </a:lnTo>
                  <a:lnTo>
                    <a:pt x="1632982" y="677380"/>
                  </a:lnTo>
                  <a:cubicBezTo>
                    <a:pt x="1694228" y="1018140"/>
                    <a:pt x="1535650" y="1360792"/>
                    <a:pt x="1236244" y="1534643"/>
                  </a:cubicBezTo>
                  <a:cubicBezTo>
                    <a:pt x="936838" y="1708495"/>
                    <a:pt x="560640" y="1676364"/>
                    <a:pt x="295054" y="1454256"/>
                  </a:cubicBezTo>
                  <a:cubicBezTo>
                    <a:pt x="29467" y="1232148"/>
                    <a:pt x="-68706" y="867567"/>
                    <a:pt x="49440" y="542129"/>
                  </a:cubicBezTo>
                  <a:cubicBezTo>
                    <a:pt x="167586" y="216691"/>
                    <a:pt x="476781" y="0"/>
                    <a:pt x="823001" y="0"/>
                  </a:cubicBezTo>
                  <a:close/>
                </a:path>
              </a:pathLst>
            </a:custGeom>
            <a:gradFill>
              <a:gsLst>
                <a:gs pos="69000">
                  <a:srgbClr val="F7AA2A"/>
                </a:gs>
                <a:gs pos="40000">
                  <a:srgbClr val="FB3849"/>
                </a:gs>
                <a:gs pos="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8188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64049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19" name="タイトル 3"/>
          <p:cNvSpPr txBox="1">
            <a:spLocks/>
          </p:cNvSpPr>
          <p:nvPr/>
        </p:nvSpPr>
        <p:spPr>
          <a:xfrm>
            <a:off x="-463154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L</a:t>
            </a:r>
            <a:r>
              <a:rPr lang="en-US" sz="3200" spc="300" dirty="0" smtClean="0">
                <a:latin typeface="Gill Sans" pitchFamily="50" charset="0"/>
              </a:rPr>
              <a:t>OGISTIC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R</a:t>
            </a:r>
            <a:r>
              <a:rPr lang="en-US" sz="3200" spc="300" dirty="0" smtClean="0">
                <a:latin typeface="Gill Sans" pitchFamily="50" charset="0"/>
              </a:rPr>
              <a:t>EGRESSION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367661" y="2820913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/>
          <a:srcRect l="11652" t="2206" r="19414" b="6699"/>
          <a:stretch/>
        </p:blipFill>
        <p:spPr>
          <a:xfrm>
            <a:off x="4529467" y="1298372"/>
            <a:ext cx="4982045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oup 19"/>
          <p:cNvGrpSpPr/>
          <p:nvPr/>
        </p:nvGrpSpPr>
        <p:grpSpPr>
          <a:xfrm>
            <a:off x="1293897" y="2754803"/>
            <a:ext cx="1646001" cy="1645926"/>
            <a:chOff x="5206312" y="3975854"/>
            <a:chExt cx="1646001" cy="1645926"/>
          </a:xfrm>
        </p:grpSpPr>
        <p:sp>
          <p:nvSpPr>
            <p:cNvPr id="21" name="Rectangle 20"/>
            <p:cNvSpPr/>
            <p:nvPr/>
          </p:nvSpPr>
          <p:spPr>
            <a:xfrm>
              <a:off x="5518489" y="4560122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smtClean="0">
                  <a:latin typeface="Bookman Old Style" panose="02050604050505020204" pitchFamily="18" charset="0"/>
                </a:rPr>
                <a:t>78%</a:t>
              </a:r>
              <a:endParaRPr lang="en-US" sz="28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5206312" y="3975854"/>
              <a:ext cx="1646001" cy="1645926"/>
            </a:xfrm>
            <a:custGeom>
              <a:avLst/>
              <a:gdLst>
                <a:gd name="connsiteX0" fmla="*/ 823001 w 1646001"/>
                <a:gd name="connsiteY0" fmla="*/ 0 h 1645926"/>
                <a:gd name="connsiteX1" fmla="*/ 823001 w 1646001"/>
                <a:gd name="connsiteY1" fmla="*/ 91440 h 1645926"/>
                <a:gd name="connsiteX2" fmla="*/ 91481 w 1646001"/>
                <a:gd name="connsiteY2" fmla="*/ 822960 h 1645926"/>
                <a:gd name="connsiteX3" fmla="*/ 823001 w 1646001"/>
                <a:gd name="connsiteY3" fmla="*/ 1554480 h 1645926"/>
                <a:gd name="connsiteX4" fmla="*/ 1554521 w 1646001"/>
                <a:gd name="connsiteY4" fmla="*/ 822960 h 1645926"/>
                <a:gd name="connsiteX5" fmla="*/ 1550744 w 1646001"/>
                <a:gd name="connsiteY5" fmla="*/ 748167 h 1645926"/>
                <a:gd name="connsiteX6" fmla="*/ 1542425 w 1646001"/>
                <a:gd name="connsiteY6" fmla="*/ 693656 h 1645926"/>
                <a:gd name="connsiteX7" fmla="*/ 1632982 w 1646001"/>
                <a:gd name="connsiteY7" fmla="*/ 677380 h 1645926"/>
                <a:gd name="connsiteX8" fmla="*/ 1236244 w 1646001"/>
                <a:gd name="connsiteY8" fmla="*/ 1534643 h 1645926"/>
                <a:gd name="connsiteX9" fmla="*/ 295054 w 1646001"/>
                <a:gd name="connsiteY9" fmla="*/ 1454256 h 1645926"/>
                <a:gd name="connsiteX10" fmla="*/ 49440 w 1646001"/>
                <a:gd name="connsiteY10" fmla="*/ 542129 h 1645926"/>
                <a:gd name="connsiteX11" fmla="*/ 823001 w 1646001"/>
                <a:gd name="connsiteY11" fmla="*/ 0 h 164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46001" h="1645926">
                  <a:moveTo>
                    <a:pt x="823001" y="0"/>
                  </a:moveTo>
                  <a:lnTo>
                    <a:pt x="823001" y="91440"/>
                  </a:lnTo>
                  <a:cubicBezTo>
                    <a:pt x="418994" y="91440"/>
                    <a:pt x="91481" y="418953"/>
                    <a:pt x="91481" y="822960"/>
                  </a:cubicBezTo>
                  <a:cubicBezTo>
                    <a:pt x="91481" y="1226967"/>
                    <a:pt x="418994" y="1554480"/>
                    <a:pt x="823001" y="1554480"/>
                  </a:cubicBezTo>
                  <a:cubicBezTo>
                    <a:pt x="1227008" y="1554480"/>
                    <a:pt x="1554521" y="1226967"/>
                    <a:pt x="1554521" y="822960"/>
                  </a:cubicBezTo>
                  <a:cubicBezTo>
                    <a:pt x="1554521" y="797710"/>
                    <a:pt x="1553242" y="772758"/>
                    <a:pt x="1550744" y="748167"/>
                  </a:cubicBezTo>
                  <a:lnTo>
                    <a:pt x="1542425" y="693656"/>
                  </a:lnTo>
                  <a:lnTo>
                    <a:pt x="1632982" y="677380"/>
                  </a:lnTo>
                  <a:cubicBezTo>
                    <a:pt x="1694228" y="1018140"/>
                    <a:pt x="1535650" y="1360792"/>
                    <a:pt x="1236244" y="1534643"/>
                  </a:cubicBezTo>
                  <a:cubicBezTo>
                    <a:pt x="936838" y="1708495"/>
                    <a:pt x="560640" y="1676364"/>
                    <a:pt x="295054" y="1454256"/>
                  </a:cubicBezTo>
                  <a:cubicBezTo>
                    <a:pt x="29467" y="1232148"/>
                    <a:pt x="-68706" y="867567"/>
                    <a:pt x="49440" y="542129"/>
                  </a:cubicBezTo>
                  <a:cubicBezTo>
                    <a:pt x="167586" y="216691"/>
                    <a:pt x="476781" y="0"/>
                    <a:pt x="823001" y="0"/>
                  </a:cubicBezTo>
                  <a:close/>
                </a:path>
              </a:pathLst>
            </a:custGeom>
            <a:gradFill>
              <a:gsLst>
                <a:gs pos="69000">
                  <a:srgbClr val="F7AA2A"/>
                </a:gs>
                <a:gs pos="40000">
                  <a:srgbClr val="FB3849"/>
                </a:gs>
                <a:gs pos="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1646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90943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sp>
        <p:nvSpPr>
          <p:cNvPr id="19" name="タイトル 3"/>
          <p:cNvSpPr txBox="1">
            <a:spLocks/>
          </p:cNvSpPr>
          <p:nvPr/>
        </p:nvSpPr>
        <p:spPr>
          <a:xfrm>
            <a:off x="-436260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N</a:t>
            </a:r>
            <a:r>
              <a:rPr lang="en-US" sz="3200" spc="300" dirty="0" smtClean="0">
                <a:latin typeface="Gill Sans" pitchFamily="50" charset="0"/>
              </a:rPr>
              <a:t>AÏVE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B</a:t>
            </a:r>
            <a:r>
              <a:rPr lang="en-US" sz="3200" spc="300" dirty="0" smtClean="0">
                <a:latin typeface="Gill Sans" pitchFamily="50" charset="0"/>
              </a:rPr>
              <a:t>AYES 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C</a:t>
            </a:r>
            <a:r>
              <a:rPr lang="en-US" sz="3200" spc="300" dirty="0" smtClean="0">
                <a:latin typeface="Gill Sans" pitchFamily="50" charset="0"/>
              </a:rPr>
              <a:t>LASSIFIER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94555" y="2820913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669657" y="3307104"/>
            <a:ext cx="1010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Bookman Old Style" panose="02050604050505020204" pitchFamily="18" charset="0"/>
              </a:rPr>
              <a:t>74%</a:t>
            </a:r>
            <a:endParaRPr lang="en-US" sz="2800" b="1" dirty="0">
              <a:latin typeface="Bookman Old Style" panose="020506040505050202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2"/>
          <a:srcRect l="11959" t="2206" r="20026" b="2206"/>
          <a:stretch/>
        </p:blipFill>
        <p:spPr>
          <a:xfrm>
            <a:off x="4797078" y="1240316"/>
            <a:ext cx="4684542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Freeform 21"/>
          <p:cNvSpPr/>
          <p:nvPr/>
        </p:nvSpPr>
        <p:spPr>
          <a:xfrm>
            <a:off x="1352990" y="2745747"/>
            <a:ext cx="1644249" cy="1645933"/>
          </a:xfrm>
          <a:custGeom>
            <a:avLst/>
            <a:gdLst>
              <a:gd name="connsiteX0" fmla="*/ 822963 w 1644249"/>
              <a:gd name="connsiteY0" fmla="*/ 0 h 1645933"/>
              <a:gd name="connsiteX1" fmla="*/ 822963 w 1644249"/>
              <a:gd name="connsiteY1" fmla="*/ 91441 h 1645933"/>
              <a:gd name="connsiteX2" fmla="*/ 91443 w 1644249"/>
              <a:gd name="connsiteY2" fmla="*/ 822961 h 1645933"/>
              <a:gd name="connsiteX3" fmla="*/ 822963 w 1644249"/>
              <a:gd name="connsiteY3" fmla="*/ 1554481 h 1645933"/>
              <a:gd name="connsiteX4" fmla="*/ 1550706 w 1644249"/>
              <a:gd name="connsiteY4" fmla="*/ 897755 h 1645933"/>
              <a:gd name="connsiteX5" fmla="*/ 1552131 w 1644249"/>
              <a:gd name="connsiteY5" fmla="*/ 869541 h 1645933"/>
              <a:gd name="connsiteX6" fmla="*/ 1644249 w 1644249"/>
              <a:gd name="connsiteY6" fmla="*/ 875426 h 1645933"/>
              <a:gd name="connsiteX7" fmla="*/ 787973 w 1644249"/>
              <a:gd name="connsiteY7" fmla="*/ 1645176 h 1645933"/>
              <a:gd name="connsiteX8" fmla="*/ 189 w 1644249"/>
              <a:gd name="connsiteY8" fmla="*/ 805461 h 1645933"/>
              <a:gd name="connsiteX9" fmla="*/ 822963 w 1644249"/>
              <a:gd name="connsiteY9" fmla="*/ 0 h 164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249" h="1645933">
                <a:moveTo>
                  <a:pt x="822963" y="0"/>
                </a:moveTo>
                <a:lnTo>
                  <a:pt x="822963" y="91441"/>
                </a:lnTo>
                <a:cubicBezTo>
                  <a:pt x="418956" y="91441"/>
                  <a:pt x="91443" y="418954"/>
                  <a:pt x="91443" y="822961"/>
                </a:cubicBezTo>
                <a:cubicBezTo>
                  <a:pt x="91443" y="1226968"/>
                  <a:pt x="418956" y="1554481"/>
                  <a:pt x="822963" y="1554481"/>
                </a:cubicBezTo>
                <a:cubicBezTo>
                  <a:pt x="1201720" y="1554481"/>
                  <a:pt x="1513245" y="1266628"/>
                  <a:pt x="1550706" y="897755"/>
                </a:cubicBezTo>
                <a:lnTo>
                  <a:pt x="1552131" y="869541"/>
                </a:lnTo>
                <a:lnTo>
                  <a:pt x="1644249" y="875426"/>
                </a:lnTo>
                <a:cubicBezTo>
                  <a:pt x="1615708" y="1322204"/>
                  <a:pt x="1235257" y="1664211"/>
                  <a:pt x="787973" y="1645176"/>
                </a:cubicBezTo>
                <a:cubicBezTo>
                  <a:pt x="340689" y="1626141"/>
                  <a:pt x="-9330" y="1253049"/>
                  <a:pt x="189" y="805461"/>
                </a:cubicBezTo>
                <a:cubicBezTo>
                  <a:pt x="9708" y="357873"/>
                  <a:pt x="375274" y="0"/>
                  <a:pt x="822963" y="0"/>
                </a:cubicBezTo>
                <a:close/>
              </a:path>
            </a:pathLst>
          </a:custGeom>
          <a:gradFill>
            <a:gsLst>
              <a:gs pos="64600">
                <a:srgbClr val="F7AA2A"/>
              </a:gs>
              <a:gs pos="32700">
                <a:srgbClr val="FB4355"/>
              </a:gs>
              <a:gs pos="0">
                <a:srgbClr val="FB3849"/>
              </a:gs>
              <a:gs pos="100000">
                <a:srgbClr val="FFC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34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5237155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  <a:latin typeface="Gill Sans" pitchFamily="50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743608" y="3870363"/>
            <a:ext cx="1645920" cy="1645920"/>
            <a:chOff x="9221909" y="3587112"/>
            <a:chExt cx="1645920" cy="1645920"/>
          </a:xfrm>
        </p:grpSpPr>
        <p:sp>
          <p:nvSpPr>
            <p:cNvPr id="20" name="Freeform 19"/>
            <p:cNvSpPr/>
            <p:nvPr/>
          </p:nvSpPr>
          <p:spPr>
            <a:xfrm>
              <a:off x="9221909" y="3587112"/>
              <a:ext cx="1645920" cy="1645920"/>
            </a:xfrm>
            <a:custGeom>
              <a:avLst/>
              <a:gdLst>
                <a:gd name="connsiteX0" fmla="*/ 822960 w 1645920"/>
                <a:gd name="connsiteY0" fmla="*/ 0 h 1645920"/>
                <a:gd name="connsiteX1" fmla="*/ 822960 w 1645920"/>
                <a:gd name="connsiteY1" fmla="*/ 68580 h 1645920"/>
                <a:gd name="connsiteX2" fmla="*/ 68580 w 1645920"/>
                <a:gd name="connsiteY2" fmla="*/ 822960 h 1645920"/>
                <a:gd name="connsiteX3" fmla="*/ 822960 w 1645920"/>
                <a:gd name="connsiteY3" fmla="*/ 1577340 h 1645920"/>
                <a:gd name="connsiteX4" fmla="*/ 1577340 w 1645920"/>
                <a:gd name="connsiteY4" fmla="*/ 822960 h 1645920"/>
                <a:gd name="connsiteX5" fmla="*/ 1645920 w 1645920"/>
                <a:gd name="connsiteY5" fmla="*/ 822960 h 1645920"/>
                <a:gd name="connsiteX6" fmla="*/ 822960 w 1645920"/>
                <a:gd name="connsiteY6" fmla="*/ 1645920 h 1645920"/>
                <a:gd name="connsiteX7" fmla="*/ 0 w 1645920"/>
                <a:gd name="connsiteY7" fmla="*/ 822960 h 1645920"/>
                <a:gd name="connsiteX8" fmla="*/ 822960 w 1645920"/>
                <a:gd name="connsiteY8" fmla="*/ 0 h 1645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45920" h="1645920">
                  <a:moveTo>
                    <a:pt x="822960" y="0"/>
                  </a:moveTo>
                  <a:lnTo>
                    <a:pt x="822960" y="68580"/>
                  </a:lnTo>
                  <a:cubicBezTo>
                    <a:pt x="406327" y="68580"/>
                    <a:pt x="68580" y="406327"/>
                    <a:pt x="68580" y="822960"/>
                  </a:cubicBezTo>
                  <a:cubicBezTo>
                    <a:pt x="68580" y="1239593"/>
                    <a:pt x="406327" y="1577340"/>
                    <a:pt x="822960" y="1577340"/>
                  </a:cubicBezTo>
                  <a:cubicBezTo>
                    <a:pt x="1239593" y="1577340"/>
                    <a:pt x="1577340" y="1239593"/>
                    <a:pt x="1577340" y="822960"/>
                  </a:cubicBezTo>
                  <a:lnTo>
                    <a:pt x="1645920" y="822960"/>
                  </a:lnTo>
                  <a:cubicBezTo>
                    <a:pt x="1645920" y="1277468"/>
                    <a:pt x="1277468" y="1645920"/>
                    <a:pt x="822960" y="1645920"/>
                  </a:cubicBezTo>
                  <a:cubicBezTo>
                    <a:pt x="368452" y="1645920"/>
                    <a:pt x="0" y="1277468"/>
                    <a:pt x="0" y="822960"/>
                  </a:cubicBezTo>
                  <a:cubicBezTo>
                    <a:pt x="0" y="368452"/>
                    <a:pt x="368452" y="0"/>
                    <a:pt x="822960" y="0"/>
                  </a:cubicBezTo>
                  <a:close/>
                </a:path>
              </a:pathLst>
            </a:custGeom>
            <a:gradFill>
              <a:gsLst>
                <a:gs pos="72000">
                  <a:srgbClr val="F7AA2A"/>
                </a:gs>
                <a:gs pos="37000">
                  <a:srgbClr val="FB4355"/>
                </a:gs>
                <a:gs pos="200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9279944" y="3655692"/>
              <a:ext cx="1508760" cy="1508760"/>
            </a:xfrm>
            <a:prstGeom prst="ellipse">
              <a:avLst/>
            </a:prstGeom>
            <a:noFill/>
            <a:ln w="19050">
              <a:solidFill>
                <a:srgbClr val="FB43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539410" y="4148462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latin typeface="Bookman Old Style" panose="02050604050505020204" pitchFamily="18" charset="0"/>
                </a:rPr>
                <a:t>75%</a:t>
              </a:r>
            </a:p>
          </p:txBody>
        </p:sp>
      </p:grpSp>
      <p:sp>
        <p:nvSpPr>
          <p:cNvPr id="23" name="タイトル 3"/>
          <p:cNvSpPr txBox="1">
            <a:spLocks/>
          </p:cNvSpPr>
          <p:nvPr/>
        </p:nvSpPr>
        <p:spPr>
          <a:xfrm>
            <a:off x="-490048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D</a:t>
            </a:r>
            <a:r>
              <a:rPr lang="en-US" sz="3200" spc="300" dirty="0" smtClean="0">
                <a:latin typeface="Gill Sans" pitchFamily="50" charset="0"/>
              </a:rPr>
              <a:t>ECISION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 T</a:t>
            </a:r>
            <a:r>
              <a:rPr lang="en-US" sz="3200" spc="300" dirty="0" smtClean="0">
                <a:latin typeface="Gill Sans" pitchFamily="50" charset="0"/>
              </a:rPr>
              <a:t>REE</a:t>
            </a:r>
            <a:r>
              <a:rPr lang="en-US" sz="3200" b="1" spc="300" dirty="0" smtClean="0">
                <a:solidFill>
                  <a:srgbClr val="C00000"/>
                </a:solidFill>
                <a:latin typeface="Gill Sans" pitchFamily="50" charset="0"/>
              </a:rPr>
              <a:t> C</a:t>
            </a:r>
            <a:r>
              <a:rPr lang="en-US" sz="3200" spc="300" dirty="0" smtClean="0">
                <a:latin typeface="Gill Sans" pitchFamily="50" charset="0"/>
              </a:rPr>
              <a:t>LASSIFIER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340767" y="2820913"/>
            <a:ext cx="1508760" cy="1508760"/>
          </a:xfrm>
          <a:prstGeom prst="ellipse">
            <a:avLst/>
          </a:prstGeom>
          <a:noFill/>
          <a:ln w="19050">
            <a:solidFill>
              <a:srgbClr val="FB4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11806" t="2002" r="18801" b="2411"/>
          <a:stretch/>
        </p:blipFill>
        <p:spPr>
          <a:xfrm>
            <a:off x="4695812" y="1269794"/>
            <a:ext cx="4779498" cy="4937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5" name="Group 24"/>
          <p:cNvGrpSpPr/>
          <p:nvPr/>
        </p:nvGrpSpPr>
        <p:grpSpPr>
          <a:xfrm>
            <a:off x="1267995" y="2752330"/>
            <a:ext cx="1646001" cy="1645926"/>
            <a:chOff x="5206312" y="3975854"/>
            <a:chExt cx="1646001" cy="1645926"/>
          </a:xfrm>
        </p:grpSpPr>
        <p:sp>
          <p:nvSpPr>
            <p:cNvPr id="26" name="Rectangle 25"/>
            <p:cNvSpPr/>
            <p:nvPr/>
          </p:nvSpPr>
          <p:spPr>
            <a:xfrm>
              <a:off x="5518489" y="4560122"/>
              <a:ext cx="101091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 smtClean="0">
                  <a:latin typeface="Bookman Old Style" panose="02050604050505020204" pitchFamily="18" charset="0"/>
                </a:rPr>
                <a:t>78%</a:t>
              </a:r>
              <a:endParaRPr lang="en-US" sz="2800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5206312" y="3975854"/>
              <a:ext cx="1646001" cy="1645926"/>
            </a:xfrm>
            <a:custGeom>
              <a:avLst/>
              <a:gdLst>
                <a:gd name="connsiteX0" fmla="*/ 823001 w 1646001"/>
                <a:gd name="connsiteY0" fmla="*/ 0 h 1645926"/>
                <a:gd name="connsiteX1" fmla="*/ 823001 w 1646001"/>
                <a:gd name="connsiteY1" fmla="*/ 91440 h 1645926"/>
                <a:gd name="connsiteX2" fmla="*/ 91481 w 1646001"/>
                <a:gd name="connsiteY2" fmla="*/ 822960 h 1645926"/>
                <a:gd name="connsiteX3" fmla="*/ 823001 w 1646001"/>
                <a:gd name="connsiteY3" fmla="*/ 1554480 h 1645926"/>
                <a:gd name="connsiteX4" fmla="*/ 1554521 w 1646001"/>
                <a:gd name="connsiteY4" fmla="*/ 822960 h 1645926"/>
                <a:gd name="connsiteX5" fmla="*/ 1550744 w 1646001"/>
                <a:gd name="connsiteY5" fmla="*/ 748167 h 1645926"/>
                <a:gd name="connsiteX6" fmla="*/ 1542425 w 1646001"/>
                <a:gd name="connsiteY6" fmla="*/ 693656 h 1645926"/>
                <a:gd name="connsiteX7" fmla="*/ 1632982 w 1646001"/>
                <a:gd name="connsiteY7" fmla="*/ 677380 h 1645926"/>
                <a:gd name="connsiteX8" fmla="*/ 1236244 w 1646001"/>
                <a:gd name="connsiteY8" fmla="*/ 1534643 h 1645926"/>
                <a:gd name="connsiteX9" fmla="*/ 295054 w 1646001"/>
                <a:gd name="connsiteY9" fmla="*/ 1454256 h 1645926"/>
                <a:gd name="connsiteX10" fmla="*/ 49440 w 1646001"/>
                <a:gd name="connsiteY10" fmla="*/ 542129 h 1645926"/>
                <a:gd name="connsiteX11" fmla="*/ 823001 w 1646001"/>
                <a:gd name="connsiteY11" fmla="*/ 0 h 1645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46001" h="1645926">
                  <a:moveTo>
                    <a:pt x="823001" y="0"/>
                  </a:moveTo>
                  <a:lnTo>
                    <a:pt x="823001" y="91440"/>
                  </a:lnTo>
                  <a:cubicBezTo>
                    <a:pt x="418994" y="91440"/>
                    <a:pt x="91481" y="418953"/>
                    <a:pt x="91481" y="822960"/>
                  </a:cubicBezTo>
                  <a:cubicBezTo>
                    <a:pt x="91481" y="1226967"/>
                    <a:pt x="418994" y="1554480"/>
                    <a:pt x="823001" y="1554480"/>
                  </a:cubicBezTo>
                  <a:cubicBezTo>
                    <a:pt x="1227008" y="1554480"/>
                    <a:pt x="1554521" y="1226967"/>
                    <a:pt x="1554521" y="822960"/>
                  </a:cubicBezTo>
                  <a:cubicBezTo>
                    <a:pt x="1554521" y="797710"/>
                    <a:pt x="1553242" y="772758"/>
                    <a:pt x="1550744" y="748167"/>
                  </a:cubicBezTo>
                  <a:lnTo>
                    <a:pt x="1542425" y="693656"/>
                  </a:lnTo>
                  <a:lnTo>
                    <a:pt x="1632982" y="677380"/>
                  </a:lnTo>
                  <a:cubicBezTo>
                    <a:pt x="1694228" y="1018140"/>
                    <a:pt x="1535650" y="1360792"/>
                    <a:pt x="1236244" y="1534643"/>
                  </a:cubicBezTo>
                  <a:cubicBezTo>
                    <a:pt x="936838" y="1708495"/>
                    <a:pt x="560640" y="1676364"/>
                    <a:pt x="295054" y="1454256"/>
                  </a:cubicBezTo>
                  <a:cubicBezTo>
                    <a:pt x="29467" y="1232148"/>
                    <a:pt x="-68706" y="867567"/>
                    <a:pt x="49440" y="542129"/>
                  </a:cubicBezTo>
                  <a:cubicBezTo>
                    <a:pt x="167586" y="216691"/>
                    <a:pt x="476781" y="0"/>
                    <a:pt x="823001" y="0"/>
                  </a:cubicBezTo>
                  <a:close/>
                </a:path>
              </a:pathLst>
            </a:custGeom>
            <a:gradFill>
              <a:gsLst>
                <a:gs pos="69000">
                  <a:srgbClr val="F7AA2A"/>
                </a:gs>
                <a:gs pos="40000">
                  <a:srgbClr val="FB3849"/>
                </a:gs>
                <a:gs pos="0">
                  <a:srgbClr val="FB3849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6619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597349" y="1831773"/>
            <a:ext cx="87092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Gill Sans" pitchFamily="50" charset="0"/>
              </a:rPr>
              <a:t>KNN</a:t>
            </a:r>
            <a:r>
              <a:rPr lang="en-US" sz="2400" dirty="0">
                <a:latin typeface="Gill Sans" pitchFamily="50" charset="0"/>
              </a:rPr>
              <a:t> </a:t>
            </a:r>
            <a:r>
              <a:rPr lang="en-US" sz="2400" dirty="0" smtClean="0">
                <a:latin typeface="Gill Sans" pitchFamily="50" charset="0"/>
              </a:rPr>
              <a:t>- the </a:t>
            </a:r>
            <a:r>
              <a:rPr lang="en-US" sz="2400" dirty="0">
                <a:latin typeface="Gill Sans" pitchFamily="50" charset="0"/>
              </a:rPr>
              <a:t>best performance among all classifiers for the data set</a:t>
            </a:r>
            <a:r>
              <a:rPr lang="en-US" sz="2400" dirty="0" smtClean="0">
                <a:latin typeface="Gill Sans" pitchFamily="50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00000"/>
                </a:solidFill>
                <a:latin typeface="Gill Sans" pitchFamily="50" charset="0"/>
              </a:rPr>
              <a:t>SVM</a:t>
            </a:r>
            <a:r>
              <a:rPr lang="en-US" sz="2400" dirty="0" smtClean="0">
                <a:latin typeface="Gill Sans" pitchFamily="50" charset="0"/>
              </a:rPr>
              <a:t> - </a:t>
            </a:r>
            <a:r>
              <a:rPr lang="en-US" sz="2400" dirty="0">
                <a:latin typeface="Gill Sans" pitchFamily="50" charset="0"/>
              </a:rPr>
              <a:t>good performance in general </a:t>
            </a:r>
            <a:endParaRPr lang="en-US" sz="2400" dirty="0" smtClean="0">
              <a:latin typeface="Gill Sans" pitchFamily="50" charset="0"/>
            </a:endParaRPr>
          </a:p>
          <a:p>
            <a:r>
              <a:rPr lang="en-US" sz="2400" dirty="0">
                <a:latin typeface="Gill Sans" pitchFamily="50" charset="0"/>
              </a:rPr>
              <a:t>	 </a:t>
            </a:r>
            <a:r>
              <a:rPr lang="en-US" sz="2400" dirty="0" smtClean="0">
                <a:latin typeface="Gill Sans" pitchFamily="50" charset="0"/>
              </a:rPr>
              <a:t>  but, performance </a:t>
            </a:r>
            <a:r>
              <a:rPr lang="en-US" sz="2400" dirty="0">
                <a:latin typeface="Gill Sans" pitchFamily="50" charset="0"/>
              </a:rPr>
              <a:t>is </a:t>
            </a:r>
            <a:r>
              <a:rPr lang="en-US" sz="2400" dirty="0" smtClean="0">
                <a:latin typeface="Gill Sans" pitchFamily="50" charset="0"/>
              </a:rPr>
              <a:t>inconsistent and </a:t>
            </a:r>
            <a:r>
              <a:rPr lang="en-US" sz="2400" dirty="0">
                <a:latin typeface="Gill Sans" pitchFamily="50" charset="0"/>
              </a:rPr>
              <a:t>dependent heavily on </a:t>
            </a:r>
            <a:r>
              <a:rPr lang="en-US" sz="2400" dirty="0" smtClean="0">
                <a:latin typeface="Gill Sans" pitchFamily="50" charset="0"/>
              </a:rPr>
              <a:t>	   the </a:t>
            </a:r>
            <a:r>
              <a:rPr lang="en-US" sz="2400" dirty="0">
                <a:latin typeface="Gill Sans" pitchFamily="50" charset="0"/>
              </a:rPr>
              <a:t>partitions of the data set</a:t>
            </a:r>
            <a:r>
              <a:rPr lang="en-US" sz="2400" dirty="0" smtClean="0">
                <a:latin typeface="Gill Sans" pitchFamily="50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Gill Sans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00000"/>
                </a:solidFill>
                <a:latin typeface="Gill Sans" pitchFamily="50" charset="0"/>
              </a:rPr>
              <a:t>LR</a:t>
            </a:r>
            <a:r>
              <a:rPr lang="en-US" sz="2400" dirty="0" smtClean="0">
                <a:latin typeface="Gill Sans" pitchFamily="50" charset="0"/>
              </a:rPr>
              <a:t> - </a:t>
            </a:r>
            <a:r>
              <a:rPr lang="en-US" sz="2400" dirty="0">
                <a:latin typeface="Gill Sans" pitchFamily="50" charset="0"/>
              </a:rPr>
              <a:t>exhibits the worst performance among all classifiers for </a:t>
            </a:r>
            <a:r>
              <a:rPr lang="en-US" sz="2400" dirty="0" smtClean="0">
                <a:latin typeface="Gill Sans" pitchFamily="50" charset="0"/>
              </a:rPr>
              <a:t>the 	 “imbalanced” </a:t>
            </a:r>
            <a:r>
              <a:rPr lang="en-US" sz="2400" dirty="0">
                <a:latin typeface="Gill Sans" pitchFamily="50" charset="0"/>
              </a:rPr>
              <a:t>data </a:t>
            </a:r>
            <a:r>
              <a:rPr lang="en-US" sz="2400" dirty="0" smtClean="0">
                <a:latin typeface="Gill Sans" pitchFamily="50" charset="0"/>
              </a:rPr>
              <a:t>set.</a:t>
            </a:r>
          </a:p>
        </p:txBody>
      </p:sp>
      <p:sp>
        <p:nvSpPr>
          <p:cNvPr id="19" name="タイトル 3"/>
          <p:cNvSpPr txBox="1">
            <a:spLocks/>
          </p:cNvSpPr>
          <p:nvPr/>
        </p:nvSpPr>
        <p:spPr>
          <a:xfrm>
            <a:off x="-490048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CON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C</a:t>
            </a:r>
            <a:r>
              <a:rPr lang="en-US" sz="3200" spc="300" dirty="0" smtClean="0">
                <a:latin typeface="Gill Sans" pitchFamily="50" charset="0"/>
              </a:rPr>
              <a:t>LUSIONS</a:t>
            </a:r>
            <a:endParaRPr lang="en-US" sz="3200" spc="300" dirty="0">
              <a:latin typeface="Gill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90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2">
                <a:lumMod val="9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88655" y="-28578"/>
            <a:ext cx="11873866" cy="6858000"/>
            <a:chOff x="-2" y="-104778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-2" y="-104778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 Same Side Corner Rectangle 34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/>
          </p:nvSpPr>
          <p:spPr>
            <a:xfrm rot="16200000">
              <a:off x="10832476" y="3300358"/>
              <a:ext cx="1756472" cy="2737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-70986" y="-28578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" name="Rectangle 37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 Same Side Corner Rectangle 38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10795844" y="3288333"/>
              <a:ext cx="1772964" cy="28132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METRICS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-432350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2" name="Rectangle 41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ound Same Side Corner Rectangle 42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10848868" y="3301467"/>
              <a:ext cx="1704975" cy="2550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APPROACH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-835648" y="-57156"/>
            <a:ext cx="11873866" cy="6858000"/>
            <a:chOff x="-2" y="-85726"/>
            <a:chExt cx="11873866" cy="6858000"/>
          </a:xfrm>
          <a:gradFill flip="none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5400000" scaled="1"/>
            <a:tileRect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Rectangle 45"/>
            <p:cNvSpPr/>
            <p:nvPr/>
          </p:nvSpPr>
          <p:spPr>
            <a:xfrm>
              <a:off x="-2" y="-85726"/>
              <a:ext cx="1152144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ound Same Side Corner Rectangle 46"/>
            <p:cNvSpPr/>
            <p:nvPr/>
          </p:nvSpPr>
          <p:spPr>
            <a:xfrm rot="5400000">
              <a:off x="10773727" y="3252787"/>
              <a:ext cx="1847849" cy="352425"/>
            </a:xfrm>
            <a:prstGeom prst="round2Same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10881810" y="3330731"/>
              <a:ext cx="1654971" cy="206534"/>
            </a:xfrm>
            <a:prstGeom prst="rect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RESULTS</a:t>
              </a:r>
              <a:endParaRPr lang="en-US" sz="1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" name="タイトル 3"/>
          <p:cNvSpPr txBox="1">
            <a:spLocks/>
          </p:cNvSpPr>
          <p:nvPr/>
        </p:nvSpPr>
        <p:spPr>
          <a:xfrm>
            <a:off x="-490048" y="474417"/>
            <a:ext cx="10812660" cy="6070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300" dirty="0" smtClean="0">
                <a:latin typeface="Gill Sans" pitchFamily="50" charset="0"/>
              </a:rPr>
              <a:t>SC</a:t>
            </a:r>
            <a:r>
              <a:rPr lang="en-US" sz="3200" spc="300" dirty="0" smtClean="0">
                <a:solidFill>
                  <a:srgbClr val="C00000"/>
                </a:solidFill>
                <a:latin typeface="Gill Sans" pitchFamily="50" charset="0"/>
              </a:rPr>
              <a:t>O</a:t>
            </a:r>
            <a:r>
              <a:rPr lang="en-US" sz="3200" spc="300" dirty="0" smtClean="0">
                <a:latin typeface="Gill Sans" pitchFamily="50" charset="0"/>
              </a:rPr>
              <a:t>PE</a:t>
            </a:r>
            <a:endParaRPr lang="en-US" sz="3200" spc="300" dirty="0">
              <a:latin typeface="Gill Sans" pitchFamily="50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95056" y="1917856"/>
            <a:ext cx="76424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ill Sans" pitchFamily="50" charset="0"/>
              </a:rPr>
              <a:t>Combining results with other wireless means for improved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Gill Sans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ill Sans" pitchFamily="50" charset="0"/>
              </a:rPr>
              <a:t>Analyze various </a:t>
            </a:r>
            <a:r>
              <a:rPr lang="en-US" sz="2800" dirty="0">
                <a:latin typeface="Gill Sans" pitchFamily="50" charset="0"/>
              </a:rPr>
              <a:t>beacon configurations </a:t>
            </a:r>
            <a:r>
              <a:rPr lang="en-US" sz="2800" dirty="0" smtClean="0">
                <a:latin typeface="Gill Sans" pitchFamily="50" charset="0"/>
              </a:rPr>
              <a:t>and densities for better results.</a:t>
            </a:r>
          </a:p>
        </p:txBody>
      </p:sp>
    </p:spTree>
    <p:extLst>
      <p:ext uri="{BB962C8B-B14F-4D97-AF65-F5344CB8AC3E}">
        <p14:creationId xmlns:p14="http://schemas.microsoft.com/office/powerpoint/2010/main" val="188076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3" r="15703"/>
          <a:stretch/>
        </p:blipFill>
        <p:spPr bwMode="auto">
          <a:xfrm>
            <a:off x="7392004" y="747072"/>
            <a:ext cx="4153031" cy="497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6509" y="2856306"/>
            <a:ext cx="58747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i="1" spc="300" dirty="0" smtClean="0">
                <a:latin typeface="Gill Sans" pitchFamily="50" charset="0"/>
                <a:cs typeface="Segoe UI" panose="020B0502040204020203" pitchFamily="34" charset="0"/>
              </a:rPr>
              <a:t>A word of gratitude to my BTP mentor Dr. </a:t>
            </a:r>
            <a:r>
              <a:rPr lang="en-US" sz="2400" i="1" spc="300" dirty="0" err="1" smtClean="0">
                <a:latin typeface="Gill Sans" pitchFamily="50" charset="0"/>
                <a:cs typeface="Segoe UI" panose="020B0502040204020203" pitchFamily="34" charset="0"/>
              </a:rPr>
              <a:t>Venkata</a:t>
            </a:r>
            <a:r>
              <a:rPr lang="en-US" sz="2400" i="1" spc="300" dirty="0" smtClean="0">
                <a:latin typeface="Gill Sans" pitchFamily="50" charset="0"/>
                <a:cs typeface="Segoe UI" panose="020B0502040204020203" pitchFamily="34" charset="0"/>
              </a:rPr>
              <a:t> </a:t>
            </a:r>
            <a:r>
              <a:rPr lang="en-US" sz="2400" i="1" spc="300" dirty="0" err="1" smtClean="0">
                <a:latin typeface="Gill Sans" pitchFamily="50" charset="0"/>
                <a:cs typeface="Segoe UI" panose="020B0502040204020203" pitchFamily="34" charset="0"/>
              </a:rPr>
              <a:t>Ramana</a:t>
            </a:r>
            <a:r>
              <a:rPr lang="en-US" sz="2400" i="1" spc="300" dirty="0" smtClean="0">
                <a:latin typeface="Gill Sans" pitchFamily="50" charset="0"/>
                <a:cs typeface="Segoe UI" panose="020B0502040204020203" pitchFamily="34" charset="0"/>
              </a:rPr>
              <a:t> </a:t>
            </a:r>
            <a:r>
              <a:rPr lang="en-US" sz="2400" i="1" spc="300" dirty="0" err="1" smtClean="0">
                <a:latin typeface="Gill Sans" pitchFamily="50" charset="0"/>
                <a:cs typeface="Segoe UI" panose="020B0502040204020203" pitchFamily="34" charset="0"/>
              </a:rPr>
              <a:t>Badarla</a:t>
            </a:r>
            <a:r>
              <a:rPr lang="en-US" sz="2400" i="1" spc="300" dirty="0" smtClean="0">
                <a:latin typeface="Gill Sans" pitchFamily="50" charset="0"/>
                <a:cs typeface="Segoe UI" panose="020B0502040204020203" pitchFamily="34" charset="0"/>
              </a:rPr>
              <a:t>, for his guidance and for keeping me motivated, while letting me work at my own pace.</a:t>
            </a:r>
            <a:endParaRPr lang="en-US" sz="2400" i="1" spc="300" dirty="0">
              <a:latin typeface="Gill Sans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6754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3" r="15703"/>
          <a:stretch/>
        </p:blipFill>
        <p:spPr bwMode="auto">
          <a:xfrm>
            <a:off x="7392004" y="747072"/>
            <a:ext cx="4153031" cy="497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1350205" y="3403944"/>
            <a:ext cx="5529568" cy="1877630"/>
            <a:chOff x="2868273" y="1915886"/>
            <a:chExt cx="5529568" cy="1877630"/>
          </a:xfrm>
        </p:grpSpPr>
        <p:sp>
          <p:nvSpPr>
            <p:cNvPr id="3" name="TextBox 2"/>
            <p:cNvSpPr txBox="1"/>
            <p:nvPr/>
          </p:nvSpPr>
          <p:spPr>
            <a:xfrm>
              <a:off x="3380504" y="2587352"/>
              <a:ext cx="5017337" cy="120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ja-JP" sz="5400" spc="300" dirty="0" smtClean="0">
                  <a:latin typeface="Gill Sans" pitchFamily="50" charset="0"/>
                  <a:cs typeface="Segoe UI" panose="020B0502040204020203" pitchFamily="34" charset="0"/>
                </a:rPr>
                <a:t>THANK YOU !</a:t>
              </a:r>
              <a:endParaRPr lang="en-US" sz="5400" spc="300" dirty="0">
                <a:latin typeface="Gill Sans" pitchFamily="50" charset="0"/>
                <a:cs typeface="Segoe UI" panose="020B0502040204020203" pitchFamily="34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868273" y="1915886"/>
              <a:ext cx="513555" cy="1161587"/>
              <a:chOff x="5913120" y="1110074"/>
              <a:chExt cx="365760" cy="994942"/>
            </a:xfrm>
          </p:grpSpPr>
          <p:cxnSp>
            <p:nvCxnSpPr>
              <p:cNvPr id="5" name="Straight Connector 4"/>
              <p:cNvCxnSpPr/>
              <p:nvPr/>
            </p:nvCxnSpPr>
            <p:spPr>
              <a:xfrm flipV="1">
                <a:off x="5913120" y="1335718"/>
                <a:ext cx="365760" cy="54864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flipV="1">
                <a:off x="5913120" y="1556376"/>
                <a:ext cx="365760" cy="54864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 flipV="1">
                <a:off x="5913120" y="1110074"/>
                <a:ext cx="365760" cy="54864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0291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9606</TotalTime>
  <Words>700</Words>
  <Application>Microsoft Office PowerPoint</Application>
  <PresentationFormat>Widescreen</PresentationFormat>
  <Paragraphs>312</Paragraphs>
  <Slides>33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MS PGothic</vt:lpstr>
      <vt:lpstr>Arial</vt:lpstr>
      <vt:lpstr>Bookman Old Style</vt:lpstr>
      <vt:lpstr>Calibri</vt:lpstr>
      <vt:lpstr>Calibri Light</vt:lpstr>
      <vt:lpstr>Courier New</vt:lpstr>
      <vt:lpstr>Gill Sans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Vishakh S</dc:creator>
  <cp:lastModifiedBy>Vishakh S</cp:lastModifiedBy>
  <cp:revision>112</cp:revision>
  <dcterms:created xsi:type="dcterms:W3CDTF">2018-11-19T19:31:39Z</dcterms:created>
  <dcterms:modified xsi:type="dcterms:W3CDTF">2018-12-01T21:46:58Z</dcterms:modified>
</cp:coreProperties>
</file>